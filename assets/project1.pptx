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7"/>
    </p:embeddedFont>
    <p:embeddedFont>
      <p:font typeface="Paytone One" pitchFamily="2" charset="77"/>
      <p:regular r:id="rId18"/>
    </p:embeddedFont>
    <p:embeddedFont>
      <p:font typeface="Public Sans" pitchFamily="2" charset="77"/>
      <p:regular r:id="rId19"/>
      <p:bold r:id="rId20"/>
      <p:italic r:id="rId21"/>
      <p:boldItalic r:id="rId22"/>
    </p:embeddedFont>
    <p:embeddedFont>
      <p:font typeface="Public Sans Medium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250283-B255-43F7-9183-A7A0DFA403CD}">
  <a:tblStyle styleId="{C8250283-B255-43F7-9183-A7A0DFA403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819d4fdab_0_2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819d4fdab_0_2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caf3cfe02b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caf3cfe02b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af3cfe02b_4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caf3cfe02b_4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af9d8212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af9d8212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caf9d8212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caf9d8212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caf9d8212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caf9d8212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af9d8212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caf9d8212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819d4fdab_0_2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819d4fdab_0_2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ab7f7019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cab7f7019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cab7f701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cab7f701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c819d4fdab_0_2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c819d4fdab_0_2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ab7f7019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cab7f7019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c819d4fdab_0_3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c819d4fdab_0_3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2TyoMsr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2TyoMsr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hyperlink" Target="http://bit.ly/2TtBDfr" TargetMode="Externa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1883752" y="2223787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5790689" y="2223787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1883752" y="3865023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5790689" y="3865026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811276" y="1508300"/>
            <a:ext cx="866400" cy="733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812476" y="3143500"/>
            <a:ext cx="8640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4719529" y="1509350"/>
            <a:ext cx="8640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8" hasCustomPrompt="1"/>
          </p:nvPr>
        </p:nvSpPr>
        <p:spPr>
          <a:xfrm>
            <a:off x="4719529" y="3143500"/>
            <a:ext cx="8640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1883649" y="1548338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883649" y="3189587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5790699" y="1548338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5"/>
          </p:nvPr>
        </p:nvSpPr>
        <p:spPr>
          <a:xfrm>
            <a:off x="5790699" y="3189587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0" y="331375"/>
            <a:ext cx="268667" cy="2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350" y="4397451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8413" y="4213007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869" y="40747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150" y="1071760"/>
            <a:ext cx="96500" cy="13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01925" y="852319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0713" y="4782635"/>
            <a:ext cx="182900" cy="188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83712" y="4726699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71850" y="181986"/>
            <a:ext cx="223575" cy="26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720088" y="1446775"/>
            <a:ext cx="36765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2"/>
          </p:nvPr>
        </p:nvSpPr>
        <p:spPr>
          <a:xfrm>
            <a:off x="4747412" y="1446775"/>
            <a:ext cx="36765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0787" y="4767966"/>
            <a:ext cx="102950" cy="1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49" y="7764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3494" y="426873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069" y="47687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65050" y="320327"/>
            <a:ext cx="76635" cy="1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5801" y="4603996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5785" y="900670"/>
            <a:ext cx="153185" cy="2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893200" y="2542153"/>
            <a:ext cx="4457100" cy="136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 idx="2" hasCustomPrompt="1"/>
          </p:nvPr>
        </p:nvSpPr>
        <p:spPr>
          <a:xfrm>
            <a:off x="5271400" y="1064544"/>
            <a:ext cx="1700700" cy="1056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3893200" y="3906132"/>
            <a:ext cx="44571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21" y="4882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7169" y="5395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119" y="238813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48658">
            <a:off x="8556761" y="285364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294" y="46040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946" y="4280854"/>
            <a:ext cx="330050" cy="32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column text 1">
  <p:cSld name="ONE_COLUMN_TEXT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726450" y="1756650"/>
            <a:ext cx="3798300" cy="23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>
            <a:spLocks noGrp="1"/>
          </p:cNvSpPr>
          <p:nvPr>
            <p:ph type="pic" idx="2"/>
          </p:nvPr>
        </p:nvSpPr>
        <p:spPr>
          <a:xfrm>
            <a:off x="4976975" y="1450625"/>
            <a:ext cx="3232800" cy="2913000"/>
          </a:xfrm>
          <a:prstGeom prst="rect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9525" y="470074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0775" y="34026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96557">
            <a:off x="340915" y="4650520"/>
            <a:ext cx="105117" cy="20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75" y="32624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9774" y="293853"/>
            <a:ext cx="96500" cy="9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525" y="664163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40875" y="606961"/>
            <a:ext cx="223575" cy="26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>
            <a:spLocks noGrp="1"/>
          </p:cNvSpPr>
          <p:nvPr>
            <p:ph type="subTitle" idx="1"/>
          </p:nvPr>
        </p:nvSpPr>
        <p:spPr>
          <a:xfrm>
            <a:off x="1290750" y="2392185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2"/>
          </p:nvPr>
        </p:nvSpPr>
        <p:spPr>
          <a:xfrm>
            <a:off x="4945625" y="2392185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3"/>
          </p:nvPr>
        </p:nvSpPr>
        <p:spPr>
          <a:xfrm>
            <a:off x="1290750" y="2758001"/>
            <a:ext cx="29076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4"/>
          </p:nvPr>
        </p:nvSpPr>
        <p:spPr>
          <a:xfrm>
            <a:off x="4945625" y="2758001"/>
            <a:ext cx="29076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0900" y="4109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26" y="301884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446" y="45450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56899" y="26848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438" y="364468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74937" y="319428"/>
            <a:ext cx="102950" cy="1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70444" y="1017736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>
            <a:spLocks noGrp="1"/>
          </p:cNvSpPr>
          <p:nvPr>
            <p:ph type="subTitle" idx="1"/>
          </p:nvPr>
        </p:nvSpPr>
        <p:spPr>
          <a:xfrm>
            <a:off x="820050" y="2752000"/>
            <a:ext cx="25749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2"/>
          </p:nvPr>
        </p:nvSpPr>
        <p:spPr>
          <a:xfrm>
            <a:off x="3284550" y="3396114"/>
            <a:ext cx="25749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3"/>
          </p:nvPr>
        </p:nvSpPr>
        <p:spPr>
          <a:xfrm>
            <a:off x="5749000" y="2752000"/>
            <a:ext cx="25749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4"/>
          </p:nvPr>
        </p:nvSpPr>
        <p:spPr>
          <a:xfrm>
            <a:off x="820050" y="2456550"/>
            <a:ext cx="2574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5"/>
          </p:nvPr>
        </p:nvSpPr>
        <p:spPr>
          <a:xfrm>
            <a:off x="5749000" y="2456550"/>
            <a:ext cx="2574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6"/>
          </p:nvPr>
        </p:nvSpPr>
        <p:spPr>
          <a:xfrm>
            <a:off x="3284550" y="3101588"/>
            <a:ext cx="2574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88799" y="7764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62409" y="350673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602346" y="48760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00249" y="320327"/>
            <a:ext cx="76635" cy="1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148433" y="4692821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68197" y="4767966"/>
            <a:ext cx="102950" cy="10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719973" y="2026675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3360147" y="2026675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3"/>
          </p:nvPr>
        </p:nvSpPr>
        <p:spPr>
          <a:xfrm>
            <a:off x="719973" y="3532900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4"/>
          </p:nvPr>
        </p:nvSpPr>
        <p:spPr>
          <a:xfrm>
            <a:off x="3360147" y="3532900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5"/>
          </p:nvPr>
        </p:nvSpPr>
        <p:spPr>
          <a:xfrm>
            <a:off x="6000323" y="2026675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6"/>
          </p:nvPr>
        </p:nvSpPr>
        <p:spPr>
          <a:xfrm>
            <a:off x="6000323" y="3532900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7"/>
          </p:nvPr>
        </p:nvSpPr>
        <p:spPr>
          <a:xfrm>
            <a:off x="719973" y="1711075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subTitle" idx="8"/>
          </p:nvPr>
        </p:nvSpPr>
        <p:spPr>
          <a:xfrm>
            <a:off x="3360147" y="1711075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9"/>
          </p:nvPr>
        </p:nvSpPr>
        <p:spPr>
          <a:xfrm>
            <a:off x="6000323" y="1711075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subTitle" idx="13"/>
          </p:nvPr>
        </p:nvSpPr>
        <p:spPr>
          <a:xfrm>
            <a:off x="719973" y="3217350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ubTitle" idx="14"/>
          </p:nvPr>
        </p:nvSpPr>
        <p:spPr>
          <a:xfrm>
            <a:off x="3360153" y="3217350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15"/>
          </p:nvPr>
        </p:nvSpPr>
        <p:spPr>
          <a:xfrm>
            <a:off x="6000327" y="3217350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148658" flipH="1">
            <a:off x="295808" y="109919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51853" y="47123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97576" y="4744389"/>
            <a:ext cx="241100" cy="23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00" y="6220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8650957" y="3779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8525891" y="9756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801291" y="3722036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>
            <a:spLocks noGrp="1"/>
          </p:cNvSpPr>
          <p:nvPr>
            <p:ph type="pic" idx="2"/>
          </p:nvPr>
        </p:nvSpPr>
        <p:spPr>
          <a:xfrm>
            <a:off x="-9050" y="25"/>
            <a:ext cx="9193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709150" y="3665150"/>
            <a:ext cx="3281400" cy="966300"/>
          </a:xfrm>
          <a:prstGeom prst="rect">
            <a:avLst/>
          </a:prstGeom>
          <a:solidFill>
            <a:schemeClr val="accent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dist="38100" dir="2700000" algn="bl" rotWithShape="0">
              <a:schemeClr val="dk1">
                <a:alpha val="54000"/>
              </a:scheme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5209313" y="2443125"/>
            <a:ext cx="28173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6" y="3779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94" y="14020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48658">
            <a:off x="409036" y="4457032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0371" y="4116917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3919" y="5395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05201" y="1367396"/>
            <a:ext cx="153175" cy="160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0" y="331375"/>
            <a:ext cx="268667" cy="2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50" y="4604001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01913" y="43744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194" y="426788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150" y="1071760"/>
            <a:ext cx="96500" cy="13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01925" y="852319"/>
            <a:ext cx="96500" cy="10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>
            <a:spLocks noGrp="1"/>
          </p:cNvSpPr>
          <p:nvPr>
            <p:ph type="title" hasCustomPrompt="1"/>
          </p:nvPr>
        </p:nvSpPr>
        <p:spPr>
          <a:xfrm>
            <a:off x="1284000" y="1895113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5" name="Google Shape;185;p23"/>
          <p:cNvSpPr txBox="1">
            <a:spLocks noGrp="1"/>
          </p:cNvSpPr>
          <p:nvPr>
            <p:ph type="subTitle" idx="1"/>
          </p:nvPr>
        </p:nvSpPr>
        <p:spPr>
          <a:xfrm>
            <a:off x="1284000" y="2873988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46" y="26946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94" y="4329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7169" y="539511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>
            <a:spLocks noGrp="1"/>
          </p:cNvSpPr>
          <p:nvPr>
            <p:ph type="title" hasCustomPrompt="1"/>
          </p:nvPr>
        </p:nvSpPr>
        <p:spPr>
          <a:xfrm>
            <a:off x="1848000" y="539512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2" name="Google Shape;192;p24"/>
          <p:cNvSpPr txBox="1">
            <a:spLocks noGrp="1"/>
          </p:cNvSpPr>
          <p:nvPr>
            <p:ph type="subTitle" idx="1"/>
          </p:nvPr>
        </p:nvSpPr>
        <p:spPr>
          <a:xfrm>
            <a:off x="1848000" y="1294387"/>
            <a:ext cx="5448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title" idx="2" hasCustomPrompt="1"/>
          </p:nvPr>
        </p:nvSpPr>
        <p:spPr>
          <a:xfrm>
            <a:off x="1848000" y="2039691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subTitle" idx="3"/>
          </p:nvPr>
        </p:nvSpPr>
        <p:spPr>
          <a:xfrm>
            <a:off x="1848000" y="2794488"/>
            <a:ext cx="5448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title" idx="4" hasCustomPrompt="1"/>
          </p:nvPr>
        </p:nvSpPr>
        <p:spPr>
          <a:xfrm>
            <a:off x="1848000" y="3539816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6" name="Google Shape;196;p24"/>
          <p:cNvSpPr txBox="1">
            <a:spLocks noGrp="1"/>
          </p:cNvSpPr>
          <p:nvPr>
            <p:ph type="subTitle" idx="5"/>
          </p:nvPr>
        </p:nvSpPr>
        <p:spPr>
          <a:xfrm>
            <a:off x="1848000" y="4294613"/>
            <a:ext cx="5448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324" y="24213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00" y="1603663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5544" y="485083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94" y="3279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3294" y="863636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>
            <a:spLocks noGrp="1"/>
          </p:cNvSpPr>
          <p:nvPr>
            <p:ph type="title"/>
          </p:nvPr>
        </p:nvSpPr>
        <p:spPr>
          <a:xfrm>
            <a:off x="873125" y="539500"/>
            <a:ext cx="44481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1"/>
          </p:nvPr>
        </p:nvSpPr>
        <p:spPr>
          <a:xfrm>
            <a:off x="873125" y="1511375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769" y="63423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94" y="5813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708959">
            <a:off x="282435" y="462274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2571" y="1662404"/>
            <a:ext cx="330050" cy="323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873125" y="3641113"/>
            <a:ext cx="36303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CREDITS:</a:t>
            </a: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This presentation template was created by </a:t>
            </a:r>
            <a:r>
              <a:rPr lang="en-GB" sz="1200" b="1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and includes icons by </a:t>
            </a:r>
            <a:r>
              <a:rPr lang="en-GB" sz="1200" b="1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and infographics &amp; images by </a:t>
            </a:r>
            <a:r>
              <a:rPr lang="en-GB" sz="1200" b="1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GB" sz="1200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200" b="1" u="sng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>
            <a:spLocks noGrp="1"/>
          </p:cNvSpPr>
          <p:nvPr>
            <p:ph type="ctrTitle"/>
          </p:nvPr>
        </p:nvSpPr>
        <p:spPr>
          <a:xfrm>
            <a:off x="1938524" y="948550"/>
            <a:ext cx="5266800" cy="189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ubTitle" idx="1"/>
          </p:nvPr>
        </p:nvSpPr>
        <p:spPr>
          <a:xfrm>
            <a:off x="3355500" y="2909350"/>
            <a:ext cx="2433000" cy="67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396" y="1967325"/>
            <a:ext cx="273233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144" y="47683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921" y="4882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3624" y="4467499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3350" y="2068861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92113" y="4725057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994" y="486248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45585" y="45914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79101" y="459146"/>
            <a:ext cx="153175" cy="160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3893200" y="2542153"/>
            <a:ext cx="4457100" cy="136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title" idx="2" hasCustomPrompt="1"/>
          </p:nvPr>
        </p:nvSpPr>
        <p:spPr>
          <a:xfrm>
            <a:off x="5271400" y="1064544"/>
            <a:ext cx="1700700" cy="1056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1"/>
          </p:nvPr>
        </p:nvSpPr>
        <p:spPr>
          <a:xfrm>
            <a:off x="3893200" y="3906132"/>
            <a:ext cx="44571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2" name="Google Shape;2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21" y="4882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7169" y="5395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119" y="238813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48658">
            <a:off x="8556761" y="285364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294" y="46040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946" y="4280854"/>
            <a:ext cx="330050" cy="32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ublic Sans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25" y="964369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25" y="4604000"/>
            <a:ext cx="247441" cy="2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25" y="276461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9275" y="40772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0213" y="4688536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60425" y="45105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096557">
            <a:off x="389965" y="3764095"/>
            <a:ext cx="105117" cy="20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5800" y="59639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05749" y="226403"/>
            <a:ext cx="96500" cy="9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>
            <a:spLocks noGrp="1"/>
          </p:cNvSpPr>
          <p:nvPr>
            <p:ph type="subTitle" idx="1"/>
          </p:nvPr>
        </p:nvSpPr>
        <p:spPr>
          <a:xfrm>
            <a:off x="1290750" y="2392185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2"/>
          </p:nvPr>
        </p:nvSpPr>
        <p:spPr>
          <a:xfrm>
            <a:off x="4945625" y="2392185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3"/>
          </p:nvPr>
        </p:nvSpPr>
        <p:spPr>
          <a:xfrm>
            <a:off x="1290750" y="2758001"/>
            <a:ext cx="29076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4"/>
          </p:nvPr>
        </p:nvSpPr>
        <p:spPr>
          <a:xfrm>
            <a:off x="4945625" y="2758001"/>
            <a:ext cx="29076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0900" y="4109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26" y="301884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446" y="45450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56899" y="26848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438" y="364468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74937" y="319428"/>
            <a:ext cx="102950" cy="1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70444" y="1017736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68" name="Google Shape;2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25" y="964369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25" y="4604000"/>
            <a:ext cx="247441" cy="2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25" y="276461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9275" y="40772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0213" y="4688536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60425" y="45105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096557">
            <a:off x="389965" y="3764095"/>
            <a:ext cx="105117" cy="20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5800" y="59639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05749" y="226403"/>
            <a:ext cx="96500" cy="9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body" idx="1"/>
          </p:nvPr>
        </p:nvSpPr>
        <p:spPr>
          <a:xfrm>
            <a:off x="726450" y="1756650"/>
            <a:ext cx="3798300" cy="23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1" name="Google Shape;281;p32"/>
          <p:cNvSpPr>
            <a:spLocks noGrp="1"/>
          </p:cNvSpPr>
          <p:nvPr>
            <p:ph type="pic" idx="2"/>
          </p:nvPr>
        </p:nvSpPr>
        <p:spPr>
          <a:xfrm>
            <a:off x="4976975" y="1450625"/>
            <a:ext cx="3232800" cy="2913000"/>
          </a:xfrm>
          <a:prstGeom prst="rect">
            <a:avLst/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sp>
      <p:pic>
        <p:nvPicPr>
          <p:cNvPr id="282" name="Google Shape;2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9525" y="470074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0775" y="34026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96557">
            <a:off x="340915" y="4650520"/>
            <a:ext cx="105117" cy="20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75" y="32624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9774" y="293853"/>
            <a:ext cx="96500" cy="9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525" y="664163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40875" y="606961"/>
            <a:ext cx="223575" cy="26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3"/>
          <p:cNvSpPr txBox="1">
            <a:spLocks noGrp="1"/>
          </p:cNvSpPr>
          <p:nvPr>
            <p:ph type="title"/>
          </p:nvPr>
        </p:nvSpPr>
        <p:spPr>
          <a:xfrm>
            <a:off x="1520750" y="1307100"/>
            <a:ext cx="61026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50" y="68194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625" y="4802007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7971" y="4478854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4950" y="68194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625" y="797157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9424" y="3012178"/>
            <a:ext cx="96500" cy="9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2096557">
            <a:off x="226465" y="4644170"/>
            <a:ext cx="105117" cy="201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 txBox="1">
            <a:spLocks noGrp="1"/>
          </p:cNvSpPr>
          <p:nvPr>
            <p:ph type="subTitle" idx="1"/>
          </p:nvPr>
        </p:nvSpPr>
        <p:spPr>
          <a:xfrm>
            <a:off x="720088" y="1446775"/>
            <a:ext cx="36765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subTitle" idx="2"/>
          </p:nvPr>
        </p:nvSpPr>
        <p:spPr>
          <a:xfrm>
            <a:off x="4747412" y="1446775"/>
            <a:ext cx="36765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4" name="Google Shape;3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0787" y="4767966"/>
            <a:ext cx="102950" cy="1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49" y="7764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3494" y="426873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069" y="47687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65050" y="320327"/>
            <a:ext cx="76635" cy="1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5801" y="4603996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5785" y="900670"/>
            <a:ext cx="153185" cy="2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>
            <a:spLocks noGrp="1"/>
          </p:cNvSpPr>
          <p:nvPr>
            <p:ph type="pic" idx="2"/>
          </p:nvPr>
        </p:nvSpPr>
        <p:spPr>
          <a:xfrm>
            <a:off x="-9050" y="25"/>
            <a:ext cx="9193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5"/>
          <p:cNvSpPr txBox="1">
            <a:spLocks noGrp="1"/>
          </p:cNvSpPr>
          <p:nvPr>
            <p:ph type="title"/>
          </p:nvPr>
        </p:nvSpPr>
        <p:spPr>
          <a:xfrm>
            <a:off x="709150" y="3665150"/>
            <a:ext cx="3281400" cy="966300"/>
          </a:xfrm>
          <a:prstGeom prst="rect">
            <a:avLst/>
          </a:prstGeom>
          <a:solidFill>
            <a:schemeClr val="accent2"/>
          </a:solidFill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dist="38100" dir="2700000" algn="bl" rotWithShape="0">
              <a:schemeClr val="dk1">
                <a:alpha val="54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6"/>
          <p:cNvSpPr txBox="1">
            <a:spLocks noGrp="1"/>
          </p:cNvSpPr>
          <p:nvPr>
            <p:ph type="title" hasCustomPrompt="1"/>
          </p:nvPr>
        </p:nvSpPr>
        <p:spPr>
          <a:xfrm>
            <a:off x="1284000" y="1895113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7" name="Google Shape;317;p36"/>
          <p:cNvSpPr txBox="1">
            <a:spLocks noGrp="1"/>
          </p:cNvSpPr>
          <p:nvPr>
            <p:ph type="subTitle" idx="1"/>
          </p:nvPr>
        </p:nvSpPr>
        <p:spPr>
          <a:xfrm>
            <a:off x="1284000" y="2873988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18" name="Google Shape;3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46" y="26946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94" y="4329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7169" y="539511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>
            <a:spLocks noGrp="1"/>
          </p:cNvSpPr>
          <p:nvPr>
            <p:ph type="subTitle" idx="1"/>
          </p:nvPr>
        </p:nvSpPr>
        <p:spPr>
          <a:xfrm>
            <a:off x="1883752" y="2223787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8"/>
          <p:cNvSpPr txBox="1">
            <a:spLocks noGrp="1"/>
          </p:cNvSpPr>
          <p:nvPr>
            <p:ph type="subTitle" idx="2"/>
          </p:nvPr>
        </p:nvSpPr>
        <p:spPr>
          <a:xfrm>
            <a:off x="5790689" y="2223787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38"/>
          <p:cNvSpPr txBox="1">
            <a:spLocks noGrp="1"/>
          </p:cNvSpPr>
          <p:nvPr>
            <p:ph type="subTitle" idx="3"/>
          </p:nvPr>
        </p:nvSpPr>
        <p:spPr>
          <a:xfrm>
            <a:off x="1883752" y="3865023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8"/>
          <p:cNvSpPr txBox="1">
            <a:spLocks noGrp="1"/>
          </p:cNvSpPr>
          <p:nvPr>
            <p:ph type="subTitle" idx="4"/>
          </p:nvPr>
        </p:nvSpPr>
        <p:spPr>
          <a:xfrm>
            <a:off x="5790689" y="3865026"/>
            <a:ext cx="2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8"/>
          <p:cNvSpPr txBox="1">
            <a:spLocks noGrp="1"/>
          </p:cNvSpPr>
          <p:nvPr>
            <p:ph type="title" idx="5" hasCustomPrompt="1"/>
          </p:nvPr>
        </p:nvSpPr>
        <p:spPr>
          <a:xfrm>
            <a:off x="811276" y="1508300"/>
            <a:ext cx="866400" cy="733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0" name="Google Shape;330;p38"/>
          <p:cNvSpPr txBox="1">
            <a:spLocks noGrp="1"/>
          </p:cNvSpPr>
          <p:nvPr>
            <p:ph type="title" idx="6" hasCustomPrompt="1"/>
          </p:nvPr>
        </p:nvSpPr>
        <p:spPr>
          <a:xfrm>
            <a:off x="812476" y="3143500"/>
            <a:ext cx="8640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1" name="Google Shape;331;p38"/>
          <p:cNvSpPr txBox="1">
            <a:spLocks noGrp="1"/>
          </p:cNvSpPr>
          <p:nvPr>
            <p:ph type="title" idx="7" hasCustomPrompt="1"/>
          </p:nvPr>
        </p:nvSpPr>
        <p:spPr>
          <a:xfrm>
            <a:off x="4719529" y="1509350"/>
            <a:ext cx="8640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2" name="Google Shape;332;p38"/>
          <p:cNvSpPr txBox="1">
            <a:spLocks noGrp="1"/>
          </p:cNvSpPr>
          <p:nvPr>
            <p:ph type="title" idx="8" hasCustomPrompt="1"/>
          </p:nvPr>
        </p:nvSpPr>
        <p:spPr>
          <a:xfrm>
            <a:off x="4719529" y="3143500"/>
            <a:ext cx="8640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3" name="Google Shape;333;p38"/>
          <p:cNvSpPr txBox="1">
            <a:spLocks noGrp="1"/>
          </p:cNvSpPr>
          <p:nvPr>
            <p:ph type="subTitle" idx="9"/>
          </p:nvPr>
        </p:nvSpPr>
        <p:spPr>
          <a:xfrm>
            <a:off x="1883649" y="1548338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4" name="Google Shape;334;p38"/>
          <p:cNvSpPr txBox="1">
            <a:spLocks noGrp="1"/>
          </p:cNvSpPr>
          <p:nvPr>
            <p:ph type="subTitle" idx="13"/>
          </p:nvPr>
        </p:nvSpPr>
        <p:spPr>
          <a:xfrm>
            <a:off x="1883649" y="3189587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5" name="Google Shape;335;p38"/>
          <p:cNvSpPr txBox="1">
            <a:spLocks noGrp="1"/>
          </p:cNvSpPr>
          <p:nvPr>
            <p:ph type="subTitle" idx="14"/>
          </p:nvPr>
        </p:nvSpPr>
        <p:spPr>
          <a:xfrm>
            <a:off x="5790699" y="1548338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6" name="Google Shape;336;p38"/>
          <p:cNvSpPr txBox="1">
            <a:spLocks noGrp="1"/>
          </p:cNvSpPr>
          <p:nvPr>
            <p:ph type="subTitle" idx="15"/>
          </p:nvPr>
        </p:nvSpPr>
        <p:spPr>
          <a:xfrm>
            <a:off x="5790699" y="3189587"/>
            <a:ext cx="25956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37" name="Google Shape;33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0" y="331375"/>
            <a:ext cx="268667" cy="2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350" y="4397451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8413" y="4213007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869" y="40747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150" y="1071760"/>
            <a:ext cx="96500" cy="13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01925" y="852319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0713" y="4782635"/>
            <a:ext cx="182900" cy="188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83712" y="4726699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71850" y="181986"/>
            <a:ext cx="223575" cy="26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9"/>
          <p:cNvSpPr txBox="1">
            <a:spLocks noGrp="1"/>
          </p:cNvSpPr>
          <p:nvPr>
            <p:ph type="subTitle" idx="1"/>
          </p:nvPr>
        </p:nvSpPr>
        <p:spPr>
          <a:xfrm>
            <a:off x="5209313" y="2443125"/>
            <a:ext cx="28173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50" name="Google Shape;3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6" y="3779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94" y="14020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48658">
            <a:off x="409036" y="4457032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0371" y="4116917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3919" y="5395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05201" y="1367396"/>
            <a:ext cx="153175" cy="160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0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59" name="Google Shape;3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0" y="331375"/>
            <a:ext cx="268667" cy="2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50" y="4604001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01913" y="43744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194" y="426788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150" y="1071760"/>
            <a:ext cx="96500" cy="13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01925" y="852319"/>
            <a:ext cx="96500" cy="10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1"/>
          <p:cNvSpPr txBox="1">
            <a:spLocks noGrp="1"/>
          </p:cNvSpPr>
          <p:nvPr>
            <p:ph type="subTitle" idx="1"/>
          </p:nvPr>
        </p:nvSpPr>
        <p:spPr>
          <a:xfrm>
            <a:off x="820050" y="2752000"/>
            <a:ext cx="25749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1"/>
          <p:cNvSpPr txBox="1">
            <a:spLocks noGrp="1"/>
          </p:cNvSpPr>
          <p:nvPr>
            <p:ph type="subTitle" idx="2"/>
          </p:nvPr>
        </p:nvSpPr>
        <p:spPr>
          <a:xfrm>
            <a:off x="3284550" y="3396114"/>
            <a:ext cx="25749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1"/>
          <p:cNvSpPr txBox="1">
            <a:spLocks noGrp="1"/>
          </p:cNvSpPr>
          <p:nvPr>
            <p:ph type="subTitle" idx="3"/>
          </p:nvPr>
        </p:nvSpPr>
        <p:spPr>
          <a:xfrm>
            <a:off x="5749000" y="2752000"/>
            <a:ext cx="25749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41"/>
          <p:cNvSpPr txBox="1">
            <a:spLocks noGrp="1"/>
          </p:cNvSpPr>
          <p:nvPr>
            <p:ph type="subTitle" idx="4"/>
          </p:nvPr>
        </p:nvSpPr>
        <p:spPr>
          <a:xfrm>
            <a:off x="820050" y="2456550"/>
            <a:ext cx="2574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2" name="Google Shape;372;p41"/>
          <p:cNvSpPr txBox="1">
            <a:spLocks noGrp="1"/>
          </p:cNvSpPr>
          <p:nvPr>
            <p:ph type="subTitle" idx="5"/>
          </p:nvPr>
        </p:nvSpPr>
        <p:spPr>
          <a:xfrm>
            <a:off x="5749000" y="2456550"/>
            <a:ext cx="2574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6"/>
          </p:nvPr>
        </p:nvSpPr>
        <p:spPr>
          <a:xfrm>
            <a:off x="3284550" y="3101588"/>
            <a:ext cx="2574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88799" y="7764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62409" y="350673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602346" y="48760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00249" y="320327"/>
            <a:ext cx="76635" cy="1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148433" y="4692821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68197" y="4767966"/>
            <a:ext cx="102950" cy="10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2"/>
          <p:cNvSpPr txBox="1">
            <a:spLocks noGrp="1"/>
          </p:cNvSpPr>
          <p:nvPr>
            <p:ph type="subTitle" idx="1"/>
          </p:nvPr>
        </p:nvSpPr>
        <p:spPr>
          <a:xfrm>
            <a:off x="719973" y="2026675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2"/>
          </p:nvPr>
        </p:nvSpPr>
        <p:spPr>
          <a:xfrm>
            <a:off x="3360147" y="2026675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3"/>
          </p:nvPr>
        </p:nvSpPr>
        <p:spPr>
          <a:xfrm>
            <a:off x="719973" y="3532900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4"/>
          </p:nvPr>
        </p:nvSpPr>
        <p:spPr>
          <a:xfrm>
            <a:off x="3360147" y="3532900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5"/>
          </p:nvPr>
        </p:nvSpPr>
        <p:spPr>
          <a:xfrm>
            <a:off x="6000323" y="2026675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42"/>
          <p:cNvSpPr txBox="1">
            <a:spLocks noGrp="1"/>
          </p:cNvSpPr>
          <p:nvPr>
            <p:ph type="subTitle" idx="6"/>
          </p:nvPr>
        </p:nvSpPr>
        <p:spPr>
          <a:xfrm>
            <a:off x="6000323" y="3532900"/>
            <a:ext cx="2423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42"/>
          <p:cNvSpPr txBox="1">
            <a:spLocks noGrp="1"/>
          </p:cNvSpPr>
          <p:nvPr>
            <p:ph type="subTitle" idx="7"/>
          </p:nvPr>
        </p:nvSpPr>
        <p:spPr>
          <a:xfrm>
            <a:off x="719973" y="1711075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0" name="Google Shape;390;p42"/>
          <p:cNvSpPr txBox="1">
            <a:spLocks noGrp="1"/>
          </p:cNvSpPr>
          <p:nvPr>
            <p:ph type="subTitle" idx="8"/>
          </p:nvPr>
        </p:nvSpPr>
        <p:spPr>
          <a:xfrm>
            <a:off x="3360147" y="1711075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1" name="Google Shape;391;p42"/>
          <p:cNvSpPr txBox="1">
            <a:spLocks noGrp="1"/>
          </p:cNvSpPr>
          <p:nvPr>
            <p:ph type="subTitle" idx="9"/>
          </p:nvPr>
        </p:nvSpPr>
        <p:spPr>
          <a:xfrm>
            <a:off x="6000323" y="1711075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2" name="Google Shape;392;p42"/>
          <p:cNvSpPr txBox="1">
            <a:spLocks noGrp="1"/>
          </p:cNvSpPr>
          <p:nvPr>
            <p:ph type="subTitle" idx="13"/>
          </p:nvPr>
        </p:nvSpPr>
        <p:spPr>
          <a:xfrm>
            <a:off x="719973" y="3217350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3" name="Google Shape;393;p42"/>
          <p:cNvSpPr txBox="1">
            <a:spLocks noGrp="1"/>
          </p:cNvSpPr>
          <p:nvPr>
            <p:ph type="subTitle" idx="14"/>
          </p:nvPr>
        </p:nvSpPr>
        <p:spPr>
          <a:xfrm>
            <a:off x="3360153" y="3217350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42"/>
          <p:cNvSpPr txBox="1">
            <a:spLocks noGrp="1"/>
          </p:cNvSpPr>
          <p:nvPr>
            <p:ph type="subTitle" idx="15"/>
          </p:nvPr>
        </p:nvSpPr>
        <p:spPr>
          <a:xfrm>
            <a:off x="6000327" y="3217350"/>
            <a:ext cx="2423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95" name="Google Shape;3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148658" flipH="1">
            <a:off x="295808" y="109919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51853" y="47123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97576" y="4744389"/>
            <a:ext cx="241100" cy="236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00" y="6220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8650957" y="377929"/>
            <a:ext cx="330050" cy="32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8525891" y="97566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801291" y="3722036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3"/>
          <p:cNvSpPr txBox="1">
            <a:spLocks noGrp="1"/>
          </p:cNvSpPr>
          <p:nvPr>
            <p:ph type="title" hasCustomPrompt="1"/>
          </p:nvPr>
        </p:nvSpPr>
        <p:spPr>
          <a:xfrm>
            <a:off x="1848000" y="539512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5" name="Google Shape;405;p43"/>
          <p:cNvSpPr txBox="1">
            <a:spLocks noGrp="1"/>
          </p:cNvSpPr>
          <p:nvPr>
            <p:ph type="subTitle" idx="1"/>
          </p:nvPr>
        </p:nvSpPr>
        <p:spPr>
          <a:xfrm>
            <a:off x="1848000" y="1294387"/>
            <a:ext cx="5448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43"/>
          <p:cNvSpPr txBox="1">
            <a:spLocks noGrp="1"/>
          </p:cNvSpPr>
          <p:nvPr>
            <p:ph type="title" idx="2" hasCustomPrompt="1"/>
          </p:nvPr>
        </p:nvSpPr>
        <p:spPr>
          <a:xfrm>
            <a:off x="1848000" y="2039691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7" name="Google Shape;407;p43"/>
          <p:cNvSpPr txBox="1">
            <a:spLocks noGrp="1"/>
          </p:cNvSpPr>
          <p:nvPr>
            <p:ph type="subTitle" idx="3"/>
          </p:nvPr>
        </p:nvSpPr>
        <p:spPr>
          <a:xfrm>
            <a:off x="1848000" y="2794488"/>
            <a:ext cx="5448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43"/>
          <p:cNvSpPr txBox="1">
            <a:spLocks noGrp="1"/>
          </p:cNvSpPr>
          <p:nvPr>
            <p:ph type="title" idx="4" hasCustomPrompt="1"/>
          </p:nvPr>
        </p:nvSpPr>
        <p:spPr>
          <a:xfrm>
            <a:off x="1848000" y="3539816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9" name="Google Shape;409;p43"/>
          <p:cNvSpPr txBox="1">
            <a:spLocks noGrp="1"/>
          </p:cNvSpPr>
          <p:nvPr>
            <p:ph type="subTitle" idx="5"/>
          </p:nvPr>
        </p:nvSpPr>
        <p:spPr>
          <a:xfrm>
            <a:off x="1848000" y="4294613"/>
            <a:ext cx="5448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0" name="Google Shape;4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324" y="24213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00" y="1603663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5544" y="485083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94" y="3279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3294" y="863636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4"/>
          <p:cNvSpPr txBox="1">
            <a:spLocks noGrp="1"/>
          </p:cNvSpPr>
          <p:nvPr>
            <p:ph type="title"/>
          </p:nvPr>
        </p:nvSpPr>
        <p:spPr>
          <a:xfrm>
            <a:off x="873125" y="539500"/>
            <a:ext cx="44481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44"/>
          <p:cNvSpPr txBox="1">
            <a:spLocks noGrp="1"/>
          </p:cNvSpPr>
          <p:nvPr>
            <p:ph type="subTitle" idx="1"/>
          </p:nvPr>
        </p:nvSpPr>
        <p:spPr>
          <a:xfrm>
            <a:off x="873125" y="1511375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9" name="Google Shape;4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769" y="63423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94" y="581311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708959">
            <a:off x="282435" y="4622745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2571" y="1662404"/>
            <a:ext cx="330050" cy="32313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4"/>
          <p:cNvSpPr txBox="1"/>
          <p:nvPr/>
        </p:nvSpPr>
        <p:spPr>
          <a:xfrm>
            <a:off x="873125" y="3641113"/>
            <a:ext cx="36303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CREDITS:</a:t>
            </a: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This presentation template was created by </a:t>
            </a:r>
            <a:r>
              <a:rPr lang="en-GB" sz="1200" b="1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and includes icons by </a:t>
            </a:r>
            <a:r>
              <a:rPr lang="en-GB" sz="1200" b="1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and infographics &amp; images by </a:t>
            </a:r>
            <a:r>
              <a:rPr lang="en-GB" sz="1200" b="1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GB" sz="1200" u="sng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200" b="1" u="sng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5050" y="320327"/>
            <a:ext cx="76635" cy="1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3494" y="426873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249" y="776424"/>
            <a:ext cx="330060" cy="3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801" y="4603996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0787" y="4767966"/>
            <a:ext cx="102950" cy="1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069" y="4768711"/>
            <a:ext cx="102956" cy="10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575" y="195450"/>
            <a:ext cx="7772851" cy="47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25" y="964369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25" y="4604000"/>
            <a:ext cx="247441" cy="2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25" y="276461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9275" y="4077232"/>
            <a:ext cx="96525" cy="12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0213" y="4688536"/>
            <a:ext cx="223575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60425" y="4510588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096557">
            <a:off x="389965" y="3764095"/>
            <a:ext cx="105117" cy="20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5800" y="596394"/>
            <a:ext cx="96500" cy="10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05749" y="226403"/>
            <a:ext cx="96500" cy="9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ytone One"/>
              <a:buNone/>
              <a:defRPr sz="35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ngstat.gov.sg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population.gov.s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www.nature.com/articles/s43587-025-00915-0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www.statista.com/statistics/780864/health-expenditure-share-of-gdp-singapore/?srsltid=AfmBOoqpsV1btn4QtflX8Df7KMcrAC3aeXlv6s5cn_Tu8sxLEbKW_q0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www.singstat.gov.sg/find-data/search-by-theme/households/household-expenditure/latest-data" TargetMode="Externa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47"/>
          <p:cNvPicPr preferRelativeResize="0"/>
          <p:nvPr/>
        </p:nvPicPr>
        <p:blipFill rotWithShape="1">
          <a:blip r:embed="rId3">
            <a:alphaModFix/>
          </a:blip>
          <a:srcRect t="22390"/>
          <a:stretch/>
        </p:blipFill>
        <p:spPr>
          <a:xfrm>
            <a:off x="0" y="2488750"/>
            <a:ext cx="2525651" cy="2803302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sp>
        <p:nvSpPr>
          <p:cNvPr id="448" name="Google Shape;448;p47"/>
          <p:cNvSpPr txBox="1">
            <a:spLocks noGrp="1"/>
          </p:cNvSpPr>
          <p:nvPr>
            <p:ph type="ctrTitle"/>
          </p:nvPr>
        </p:nvSpPr>
        <p:spPr>
          <a:xfrm>
            <a:off x="1501200" y="1428985"/>
            <a:ext cx="6141600" cy="189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 dirty="0"/>
              <a:t>Singapore </a:t>
            </a:r>
            <a:br>
              <a:rPr lang="en-GB" sz="5100" dirty="0"/>
            </a:br>
            <a:r>
              <a:rPr lang="en-GB" sz="5100" dirty="0">
                <a:solidFill>
                  <a:schemeClr val="bg2"/>
                </a:solidFill>
              </a:rPr>
              <a:t>Public Healthcare</a:t>
            </a:r>
            <a:endParaRPr sz="5100" dirty="0">
              <a:solidFill>
                <a:schemeClr val="bg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Sustainability</a:t>
            </a:r>
            <a:endParaRPr sz="5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50" name="Google Shape;45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8773" y="3138470"/>
            <a:ext cx="153185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5013" y="1730710"/>
            <a:ext cx="182900" cy="188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06725" y="1514251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7"/>
          <p:cNvPicPr preferRelativeResize="0"/>
          <p:nvPr/>
        </p:nvPicPr>
        <p:blipFill rotWithShape="1">
          <a:blip r:embed="rId7">
            <a:alphaModFix/>
          </a:blip>
          <a:srcRect t="21722"/>
          <a:stretch/>
        </p:blipFill>
        <p:spPr>
          <a:xfrm>
            <a:off x="6647250" y="2524330"/>
            <a:ext cx="2496748" cy="273214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pic>
        <p:nvPicPr>
          <p:cNvPr id="454" name="Google Shape;454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71326" y="948559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39944" y="3987286"/>
            <a:ext cx="102956" cy="10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85026" y="1050884"/>
            <a:ext cx="102950" cy="14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096588">
            <a:off x="3349085" y="3991820"/>
            <a:ext cx="153185" cy="2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096" y="4310050"/>
            <a:ext cx="273233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150" y="4093826"/>
            <a:ext cx="223575" cy="35357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8"/>
          <p:cNvSpPr txBox="1"/>
          <p:nvPr/>
        </p:nvSpPr>
        <p:spPr>
          <a:xfrm>
            <a:off x="3311400" y="387075"/>
            <a:ext cx="252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Introduction</a:t>
            </a:r>
            <a:endParaRPr/>
          </a:p>
        </p:txBody>
      </p:sp>
      <p:sp>
        <p:nvSpPr>
          <p:cNvPr id="465" name="Google Shape;465;p48"/>
          <p:cNvSpPr txBox="1"/>
          <p:nvPr/>
        </p:nvSpPr>
        <p:spPr>
          <a:xfrm>
            <a:off x="507300" y="1121325"/>
            <a:ext cx="270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Ageing Population</a:t>
            </a:r>
            <a:endParaRPr sz="1600">
              <a:solidFill>
                <a:schemeClr val="dk2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66" name="Google Shape;466;p48"/>
          <p:cNvSpPr txBox="1"/>
          <p:nvPr/>
        </p:nvSpPr>
        <p:spPr>
          <a:xfrm>
            <a:off x="507300" y="1583025"/>
            <a:ext cx="2391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2030: 1 in 4 Singaporeans will be elderly</a:t>
            </a:r>
            <a:endParaRPr sz="1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467" name="Google Shape;467;p48"/>
          <p:cNvSpPr txBox="1"/>
          <p:nvPr/>
        </p:nvSpPr>
        <p:spPr>
          <a:xfrm>
            <a:off x="5915800" y="579500"/>
            <a:ext cx="2706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Demographic Projections</a:t>
            </a:r>
            <a:endParaRPr sz="180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68" name="Google Shape;468;p48"/>
          <p:cNvSpPr txBox="1"/>
          <p:nvPr/>
        </p:nvSpPr>
        <p:spPr>
          <a:xfrm>
            <a:off x="5768950" y="164097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Hospital Admissions Forecasting</a:t>
            </a:r>
            <a:endParaRPr sz="180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69" name="Google Shape;469;p48"/>
          <p:cNvSpPr txBox="1"/>
          <p:nvPr/>
        </p:nvSpPr>
        <p:spPr>
          <a:xfrm>
            <a:off x="5564925" y="26577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Healthcare Expenditure</a:t>
            </a:r>
            <a:endParaRPr sz="180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70" name="Google Shape;470;p48"/>
          <p:cNvSpPr txBox="1"/>
          <p:nvPr/>
        </p:nvSpPr>
        <p:spPr>
          <a:xfrm>
            <a:off x="5493700" y="305957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2025: SGD 20.9 billion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2030: &gt; SGD 30 billion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1" name="Google Shape;471;p48"/>
          <p:cNvSpPr txBox="1"/>
          <p:nvPr/>
        </p:nvSpPr>
        <p:spPr>
          <a:xfrm>
            <a:off x="4515625" y="3823700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Financing Adequacy Analysis</a:t>
            </a:r>
            <a:endParaRPr sz="180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72" name="Google Shape;472;p48"/>
          <p:cNvSpPr txBox="1"/>
          <p:nvPr/>
        </p:nvSpPr>
        <p:spPr>
          <a:xfrm>
            <a:off x="395675" y="2463000"/>
            <a:ext cx="329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Increase Hospital Demand</a:t>
            </a:r>
            <a:endParaRPr sz="180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73" name="Google Shape;473;p48"/>
          <p:cNvSpPr txBox="1"/>
          <p:nvPr/>
        </p:nvSpPr>
        <p:spPr>
          <a:xfrm>
            <a:off x="434850" y="2838425"/>
            <a:ext cx="30903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2023: 62.7% of total hospital admissions were elderly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4" name="Google Shape;474;p48"/>
          <p:cNvSpPr txBox="1"/>
          <p:nvPr/>
        </p:nvSpPr>
        <p:spPr>
          <a:xfrm>
            <a:off x="922025" y="3804650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Increase Healthcare Expenditure</a:t>
            </a:r>
            <a:endParaRPr sz="180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75" name="Google Shape;475;p48"/>
          <p:cNvSpPr txBox="1"/>
          <p:nvPr/>
        </p:nvSpPr>
        <p:spPr>
          <a:xfrm>
            <a:off x="3072000" y="17979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00">
                <a:solidFill>
                  <a:srgbClr val="F28A27"/>
                </a:solidFill>
                <a:latin typeface="Paytone One"/>
                <a:ea typeface="Paytone One"/>
                <a:cs typeface="Paytone One"/>
                <a:sym typeface="Paytone One"/>
              </a:rPr>
              <a:t>2035</a:t>
            </a:r>
            <a:endParaRPr sz="5600">
              <a:solidFill>
                <a:srgbClr val="F28A27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0169" y="3991536"/>
            <a:ext cx="102956" cy="10654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9"/>
          <p:cNvSpPr txBox="1"/>
          <p:nvPr/>
        </p:nvSpPr>
        <p:spPr>
          <a:xfrm>
            <a:off x="3072000" y="3268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Data Sources</a:t>
            </a:r>
            <a:endParaRPr/>
          </a:p>
        </p:txBody>
      </p:sp>
      <p:pic>
        <p:nvPicPr>
          <p:cNvPr id="482" name="Google Shape;48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9500" y="275225"/>
            <a:ext cx="1480275" cy="879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3" name="Google Shape;483;p49"/>
          <p:cNvGraphicFramePr/>
          <p:nvPr/>
        </p:nvGraphicFramePr>
        <p:xfrm>
          <a:off x="720050" y="1545775"/>
          <a:ext cx="7829550" cy="3172527"/>
        </p:xfrm>
        <a:graphic>
          <a:graphicData uri="http://schemas.openxmlformats.org/drawingml/2006/table">
            <a:tbl>
              <a:tblPr>
                <a:noFill/>
                <a:tableStyleId>{C8250283-B255-43F7-9183-A7A0DFA403CD}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8D4809"/>
                          </a:solidFill>
                          <a:latin typeface="Paytone One"/>
                          <a:ea typeface="Paytone One"/>
                          <a:cs typeface="Paytone One"/>
                          <a:sym typeface="Paytone One"/>
                        </a:rPr>
                        <a:t> Data </a:t>
                      </a:r>
                      <a:endParaRPr sz="1900">
                        <a:solidFill>
                          <a:srgbClr val="8D4809"/>
                        </a:solidFill>
                        <a:latin typeface="Paytone One"/>
                        <a:ea typeface="Paytone One"/>
                        <a:cs typeface="Paytone One"/>
                        <a:sym typeface="Paytone O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8D4809"/>
                          </a:solidFill>
                          <a:latin typeface="Paytone One"/>
                          <a:ea typeface="Paytone One"/>
                          <a:cs typeface="Paytone One"/>
                          <a:sym typeface="Paytone One"/>
                        </a:rPr>
                        <a:t>Purpose</a:t>
                      </a:r>
                      <a:endParaRPr sz="1900">
                        <a:solidFill>
                          <a:srgbClr val="8D4809"/>
                        </a:solidFill>
                        <a:latin typeface="Paytone One"/>
                        <a:ea typeface="Paytone One"/>
                        <a:cs typeface="Paytone One"/>
                        <a:sym typeface="Paytone O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Singapore Population Structure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Analyse growth trends and project future population by age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Hospital Admissions (Age, Sex)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Establish hospital admission patterns for forecasting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Bed Occupancy Rates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To determine hospital capacity utilisation and constraints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Government Healthcare Expenditure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Establish spending trend and calculate cost per admission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Household Expenditure Survey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301903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Establish household healthcare expenditure</a:t>
                      </a:r>
                      <a:endParaRPr sz="1300">
                        <a:solidFill>
                          <a:srgbClr val="301903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0169" y="3991536"/>
            <a:ext cx="102956" cy="10654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0"/>
          <p:cNvSpPr txBox="1"/>
          <p:nvPr/>
        </p:nvSpPr>
        <p:spPr>
          <a:xfrm>
            <a:off x="772000" y="103225"/>
            <a:ext cx="7673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1. Demographic Projection</a:t>
            </a:r>
            <a:endParaRPr sz="2500"/>
          </a:p>
        </p:txBody>
      </p:sp>
      <p:sp>
        <p:nvSpPr>
          <p:cNvPr id="490" name="Google Shape;490;p50"/>
          <p:cNvSpPr txBox="1"/>
          <p:nvPr/>
        </p:nvSpPr>
        <p:spPr>
          <a:xfrm>
            <a:off x="688075" y="610700"/>
            <a:ext cx="79389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Project Singapore’s population structure up to 2035 using historical data with life expectancy trends, mortality and fertility rates.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1" name="Google Shape;491;p50"/>
          <p:cNvSpPr txBox="1"/>
          <p:nvPr/>
        </p:nvSpPr>
        <p:spPr>
          <a:xfrm>
            <a:off x="301050" y="1244289"/>
            <a:ext cx="3197524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Population 4.20M (2025) → 4.10M (2035)</a:t>
            </a:r>
            <a:endParaRPr sz="1600" dirty="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92" name="Google Shape;492;p50"/>
          <p:cNvSpPr txBox="1"/>
          <p:nvPr/>
        </p:nvSpPr>
        <p:spPr>
          <a:xfrm>
            <a:off x="301050" y="1987925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Resident population declining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Resident pop: 4.20M → 4.10M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Net decline of ~107K by 2035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3" name="Google Shape;493;p50"/>
          <p:cNvSpPr txBox="1"/>
          <p:nvPr/>
        </p:nvSpPr>
        <p:spPr>
          <a:xfrm>
            <a:off x="376025" y="27796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The Elderly</a:t>
            </a:r>
            <a:endParaRPr sz="1600" dirty="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94" name="Google Shape;494;p50"/>
          <p:cNvSpPr txBox="1"/>
          <p:nvPr/>
        </p:nvSpPr>
        <p:spPr>
          <a:xfrm>
            <a:off x="702875" y="3145625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Elderly 25.9% in 2035 (18.8% in 2025)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 80 years old </a:t>
            </a:r>
            <a:r>
              <a:rPr lang="en-GB" sz="1200" b="1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doubles to 316K+ by 2035</a:t>
            </a:r>
            <a:endParaRPr sz="1200" b="1">
              <a:solidFill>
                <a:srgbClr val="FF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495" name="Google Shape;49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00" y="3220925"/>
            <a:ext cx="407585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2875" y="1444113"/>
            <a:ext cx="5023800" cy="31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934" y="3950453"/>
            <a:ext cx="180650" cy="82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0"/>
          <p:cNvSpPr txBox="1"/>
          <p:nvPr/>
        </p:nvSpPr>
        <p:spPr>
          <a:xfrm>
            <a:off x="876005" y="38521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0–14 years: declining to 12.1%</a:t>
            </a:r>
            <a:endParaRPr sz="1200" dirty="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499" name="Google Shape;499;p50"/>
          <p:cNvSpPr txBox="1"/>
          <p:nvPr/>
        </p:nvSpPr>
        <p:spPr>
          <a:xfrm>
            <a:off x="873584" y="417656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15–64 years: shrinking to 63.3%</a:t>
            </a:r>
            <a:endParaRPr sz="1200" dirty="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00" name="Google Shape;500;p50"/>
          <p:cNvSpPr txBox="1"/>
          <p:nvPr/>
        </p:nvSpPr>
        <p:spPr>
          <a:xfrm>
            <a:off x="898966" y="451203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65+ years: rising to 25.9%</a:t>
            </a:r>
            <a:endParaRPr sz="1200" dirty="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01" name="Google Shape;501;p50"/>
          <p:cNvSpPr txBox="1"/>
          <p:nvPr/>
        </p:nvSpPr>
        <p:spPr>
          <a:xfrm>
            <a:off x="3702875" y="4696250"/>
            <a:ext cx="536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Source:</a:t>
            </a:r>
            <a:r>
              <a:rPr lang="en-GB" sz="1000">
                <a:solidFill>
                  <a:schemeClr val="dk1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chemeClr val="hlink"/>
                </a:solidFill>
                <a:hlinkClick r:id="rId7"/>
              </a:rPr>
              <a:t>https://www.population.gov.sg/</a:t>
            </a:r>
            <a:r>
              <a:rPr lang="en-GB" sz="1000"/>
              <a:t> &amp;</a:t>
            </a:r>
            <a:r>
              <a:rPr lang="en-GB" sz="1000">
                <a:uFill>
                  <a:noFill/>
                </a:uFill>
                <a:hlinkClick r:id="rId8"/>
              </a:rPr>
              <a:t> </a:t>
            </a:r>
            <a:r>
              <a:rPr lang="en-GB" sz="1000" u="sng">
                <a:solidFill>
                  <a:schemeClr val="hlink"/>
                </a:solidFill>
                <a:hlinkClick r:id="rId8"/>
              </a:rPr>
              <a:t>https://www.singstat.gov.sg</a:t>
            </a:r>
            <a:r>
              <a:rPr lang="en-GB" sz="1200" u="sng">
                <a:solidFill>
                  <a:schemeClr val="hlink"/>
                </a:solidFill>
                <a:hlinkClick r:id="rId8"/>
              </a:rPr>
              <a:t>/</a:t>
            </a:r>
            <a:endParaRPr sz="12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0169" y="3991536"/>
            <a:ext cx="102956" cy="10654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1"/>
          <p:cNvSpPr txBox="1"/>
          <p:nvPr/>
        </p:nvSpPr>
        <p:spPr>
          <a:xfrm>
            <a:off x="946125" y="154825"/>
            <a:ext cx="811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2. Hospital Demand &amp; Admission Forecasting </a:t>
            </a:r>
            <a:endParaRPr dirty="0"/>
          </a:p>
        </p:txBody>
      </p:sp>
      <p:sp>
        <p:nvSpPr>
          <p:cNvPr id="508" name="Google Shape;508;p51"/>
          <p:cNvSpPr txBox="1"/>
          <p:nvPr/>
        </p:nvSpPr>
        <p:spPr>
          <a:xfrm>
            <a:off x="258025" y="653700"/>
            <a:ext cx="8334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Project demand for hospital beds using age-specific hospital admission rates to assess if projected demand aligns with planned hospital capacity. </a:t>
            </a:r>
            <a:endParaRPr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09" name="Google Shape;50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38" y="1301700"/>
            <a:ext cx="7755370" cy="265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900" y="4164452"/>
            <a:ext cx="153325" cy="15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7765" y="4164452"/>
            <a:ext cx="153325" cy="1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1"/>
          <p:cNvSpPr txBox="1"/>
          <p:nvPr/>
        </p:nvSpPr>
        <p:spPr>
          <a:xfrm>
            <a:off x="4755051" y="4317777"/>
            <a:ext cx="3837674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Total admissions grow: 601K (2025) → 685K (2035)</a:t>
            </a:r>
            <a:endParaRPr sz="11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Elderly (65+) admissions: 266K → 349K (+31%)</a:t>
            </a:r>
            <a:endParaRPr sz="11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3" name="Google Shape;513;p51"/>
          <p:cNvSpPr txBox="1"/>
          <p:nvPr/>
        </p:nvSpPr>
        <p:spPr>
          <a:xfrm>
            <a:off x="1028225" y="403404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Bed-day demand: 3.79M days → 4.45M days (+17%)</a:t>
            </a:r>
            <a:endParaRPr dirty="0"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14" name="Google Shape;514;p51"/>
          <p:cNvSpPr txBox="1"/>
          <p:nvPr/>
        </p:nvSpPr>
        <p:spPr>
          <a:xfrm>
            <a:off x="4755051" y="4041014"/>
            <a:ext cx="383757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BOR 2025: 89.6% — exceeds 85% red line</a:t>
            </a:r>
            <a:endParaRPr dirty="0"/>
          </a:p>
        </p:txBody>
      </p:sp>
      <p:sp>
        <p:nvSpPr>
          <p:cNvPr id="515" name="Google Shape;515;p51"/>
          <p:cNvSpPr txBox="1"/>
          <p:nvPr/>
        </p:nvSpPr>
        <p:spPr>
          <a:xfrm>
            <a:off x="481675" y="4756450"/>
            <a:ext cx="8334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Source:</a:t>
            </a:r>
            <a:r>
              <a:rPr lang="en-GB" sz="1000">
                <a:solidFill>
                  <a:schemeClr val="dk1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>
                <a:solidFill>
                  <a:schemeClr val="hlink"/>
                </a:solidFill>
                <a:hlinkClick r:id="rId6"/>
              </a:rPr>
              <a:t>Disease burden, lifetime healthcare cost and long-term intervention impact projections among older adults in Singapore</a:t>
            </a:r>
            <a:endParaRPr sz="10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0169" y="3991536"/>
            <a:ext cx="102956" cy="10654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2012675" y="77425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3. Healthcare Costs Projection</a:t>
            </a:r>
            <a:endParaRPr/>
          </a:p>
        </p:txBody>
      </p:sp>
      <p:sp>
        <p:nvSpPr>
          <p:cNvPr id="522" name="Google Shape;522;p52"/>
          <p:cNvSpPr txBox="1"/>
          <p:nvPr/>
        </p:nvSpPr>
        <p:spPr>
          <a:xfrm>
            <a:off x="292450" y="498875"/>
            <a:ext cx="830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Healthcare expenditure is driven by  changes in demand and medical cost inflation.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23" name="Google Shape;52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775" y="1206988"/>
            <a:ext cx="4036351" cy="24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3025" y="1212375"/>
            <a:ext cx="578675" cy="20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2"/>
          <p:cNvSpPr txBox="1"/>
          <p:nvPr/>
        </p:nvSpPr>
        <p:spPr>
          <a:xfrm>
            <a:off x="5347488" y="1082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Govt Hospital Opex</a:t>
            </a:r>
            <a:endParaRPr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26" name="Google Shape;526;p52"/>
          <p:cNvSpPr txBox="1"/>
          <p:nvPr/>
        </p:nvSpPr>
        <p:spPr>
          <a:xfrm>
            <a:off x="5347488" y="13260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2025: SGD 7.52B → 2035: SGD 14.10B (+88%)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7" name="Google Shape;527;p52"/>
          <p:cNvSpPr txBox="1"/>
          <p:nvPr/>
        </p:nvSpPr>
        <p:spPr>
          <a:xfrm>
            <a:off x="5711700" y="193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Medical Inflation</a:t>
            </a:r>
            <a:endParaRPr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28" name="Google Shape;528;p52"/>
          <p:cNvSpPr txBox="1"/>
          <p:nvPr/>
        </p:nvSpPr>
        <p:spPr>
          <a:xfrm>
            <a:off x="5711700" y="2277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Rising 2.7% (2025) to 6.1% by 2035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9" name="Google Shape;529;p52"/>
          <p:cNvSpPr txBox="1"/>
          <p:nvPr/>
        </p:nvSpPr>
        <p:spPr>
          <a:xfrm>
            <a:off x="5367675" y="3025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Cost Per Admission</a:t>
            </a:r>
            <a:endParaRPr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30" name="Google Shape;530;p52"/>
          <p:cNvSpPr txBox="1"/>
          <p:nvPr/>
        </p:nvSpPr>
        <p:spPr>
          <a:xfrm>
            <a:off x="5393483" y="3308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SGD 12,490 (2025) → SGD 17,644 (2035)</a:t>
            </a:r>
            <a:endParaRPr sz="1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531" name="Google Shape;53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075" y="4064025"/>
            <a:ext cx="183050" cy="17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9450" y="4064025"/>
            <a:ext cx="183050" cy="1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2"/>
          <p:cNvSpPr txBox="1"/>
          <p:nvPr/>
        </p:nvSpPr>
        <p:spPr>
          <a:xfrm>
            <a:off x="5157900" y="3951373"/>
            <a:ext cx="388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Projected Govt Healthcare Cost 2026–2035</a:t>
            </a:r>
            <a:endParaRPr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34" name="Google Shape;534;p52"/>
          <p:cNvSpPr txBox="1"/>
          <p:nvPr/>
        </p:nvSpPr>
        <p:spPr>
          <a:xfrm>
            <a:off x="840113" y="3967054"/>
            <a:ext cx="411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D4809"/>
                </a:solidFill>
                <a:latin typeface="Paytone One"/>
                <a:ea typeface="Paytone One"/>
                <a:cs typeface="Paytone One"/>
                <a:sym typeface="Paytone One"/>
              </a:rPr>
              <a:t>Elderly cost multiplier drives accelerating expenditure</a:t>
            </a:r>
            <a:endParaRPr>
              <a:solidFill>
                <a:srgbClr val="8D4809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535" name="Google Shape;535;p52"/>
          <p:cNvSpPr txBox="1"/>
          <p:nvPr/>
        </p:nvSpPr>
        <p:spPr>
          <a:xfrm>
            <a:off x="292450" y="4575825"/>
            <a:ext cx="84981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lang="en-GB" sz="800">
                <a:solidFill>
                  <a:schemeClr val="dk1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800" u="sng">
                <a:solidFill>
                  <a:schemeClr val="hlink"/>
                </a:solidFill>
                <a:hlinkClick r:id="rId7"/>
              </a:rPr>
              <a:t>https://www.statista.com/statistics/780864/health-expenditure-share-of-gdp-singapore/?srsltid=AfmBOoqpsV1btn4QtflX8Df7KMcrAC3aeXlv6s5cn_Tu8sxLEbKW_q0W</a:t>
            </a:r>
            <a:endParaRPr sz="800" u="sng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 https://isomer-user-content.by.gov.sg/153/b25a4bb9-db1b-428d-ab48-4528e0ee0d37/fy2026_analysis_of_revenue_and_expenditure_2026.pdf</a:t>
            </a:r>
            <a:endParaRPr sz="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0169" y="3991536"/>
            <a:ext cx="102956" cy="106548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3"/>
          <p:cNvSpPr txBox="1"/>
          <p:nvPr/>
        </p:nvSpPr>
        <p:spPr>
          <a:xfrm>
            <a:off x="1574025" y="51575"/>
            <a:ext cx="744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rPr>
              <a:t>4. Financing &amp; Subsidy Sustainability</a:t>
            </a:r>
            <a:endParaRPr/>
          </a:p>
        </p:txBody>
      </p:sp>
      <p:pic>
        <p:nvPicPr>
          <p:cNvPr id="542" name="Google Shape;54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01" y="890546"/>
            <a:ext cx="3395354" cy="271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9" y="881149"/>
            <a:ext cx="3887997" cy="272156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3"/>
          <p:cNvSpPr txBox="1"/>
          <p:nvPr/>
        </p:nvSpPr>
        <p:spPr>
          <a:xfrm>
            <a:off x="396150" y="4644625"/>
            <a:ext cx="835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Source:</a:t>
            </a:r>
            <a:r>
              <a:rPr lang="en-GB" sz="1000" dirty="0">
                <a:solidFill>
                  <a:schemeClr val="dk1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000" u="sng" dirty="0">
                <a:solidFill>
                  <a:schemeClr val="hlink"/>
                </a:solidFill>
                <a:hlinkClick r:id="rId6"/>
              </a:rPr>
              <a:t>https://www.singstat.gov.sg/find-data/search-by-theme/households/household-expenditure/latest-data</a:t>
            </a:r>
            <a:endParaRPr sz="1000" u="sng" dirty="0">
              <a:solidFill>
                <a:schemeClr val="hlink"/>
              </a:solidFill>
            </a:endParaRPr>
          </a:p>
        </p:txBody>
      </p:sp>
      <p:sp>
        <p:nvSpPr>
          <p:cNvPr id="2" name="Google Shape;508;p51">
            <a:extLst>
              <a:ext uri="{FF2B5EF4-FFF2-40B4-BE49-F238E27FC236}">
                <a16:creationId xmlns:a16="http://schemas.microsoft.com/office/drawing/2014/main" id="{6AE816EB-F625-FAE3-57A6-BA54D580E7FF}"/>
              </a:ext>
            </a:extLst>
          </p:cNvPr>
          <p:cNvSpPr txBox="1"/>
          <p:nvPr/>
        </p:nvSpPr>
        <p:spPr>
          <a:xfrm>
            <a:off x="114901" y="3875983"/>
            <a:ext cx="8766705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chemeClr val="bg2"/>
                </a:solidFill>
                <a:latin typeface="Public Sans"/>
                <a:ea typeface="Public Sans"/>
                <a:cs typeface="Public Sans"/>
                <a:sym typeface="Public Sans"/>
              </a:rPr>
              <a:t>Financing gap emerges; surplus until 2030, deficit from 2031
Deficit reaches SGD 951M by 2035 (7.2% of govt budget)
Household OOP burden: SGD 1,760/yr (2026) → SGD 2,698/yr (2035)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4"/>
          <p:cNvSpPr txBox="1">
            <a:spLocks noGrp="1"/>
          </p:cNvSpPr>
          <p:nvPr>
            <p:ph type="title"/>
          </p:nvPr>
        </p:nvSpPr>
        <p:spPr>
          <a:xfrm>
            <a:off x="720000" y="24040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Trade Off Analysis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4"/>
          <p:cNvSpPr txBox="1">
            <a:spLocks noGrp="1"/>
          </p:cNvSpPr>
          <p:nvPr>
            <p:ph type="subTitle" idx="1"/>
          </p:nvPr>
        </p:nvSpPr>
        <p:spPr>
          <a:xfrm>
            <a:off x="372049" y="2655474"/>
            <a:ext cx="3842141" cy="2396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/>
              <a:t>Trade-off between household protection and fiscal sustainability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/>
              <a:t>65% subsidy: financing deficit SGD 951M by 2035; OOP SGD 4,358/yr per household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/>
              <a:t>55% subsidy: deficit eliminated; but OOP jumps to SGD 5,603/yr (+29%)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-GB" sz="1200" dirty="0"/>
              <a:t>Optimal zone: 60% subsidy — deficit SGD 134M, OOP SGD 4,980/yr (21.6% of income)</a:t>
            </a:r>
            <a:endParaRPr sz="1200" dirty="0"/>
          </a:p>
        </p:txBody>
      </p:sp>
      <p:sp>
        <p:nvSpPr>
          <p:cNvPr id="552" name="Google Shape;552;p54"/>
          <p:cNvSpPr txBox="1">
            <a:spLocks noGrp="1"/>
          </p:cNvSpPr>
          <p:nvPr>
            <p:ph type="subTitle" idx="4"/>
          </p:nvPr>
        </p:nvSpPr>
        <p:spPr>
          <a:xfrm>
            <a:off x="293125" y="1926383"/>
            <a:ext cx="36273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Subsidy Level vs Fiscal Sustainability</a:t>
            </a:r>
            <a:endParaRPr sz="1800"/>
          </a:p>
        </p:txBody>
      </p:sp>
      <p:pic>
        <p:nvPicPr>
          <p:cNvPr id="553" name="Google Shape;55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675" y="1025287"/>
            <a:ext cx="819400" cy="7998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grpSp>
        <p:nvGrpSpPr>
          <p:cNvPr id="554" name="Google Shape;554;p54"/>
          <p:cNvGrpSpPr/>
          <p:nvPr/>
        </p:nvGrpSpPr>
        <p:grpSpPr>
          <a:xfrm>
            <a:off x="6881595" y="1236743"/>
            <a:ext cx="273560" cy="376890"/>
            <a:chOff x="2399983" y="3219693"/>
            <a:chExt cx="273560" cy="376890"/>
          </a:xfrm>
        </p:grpSpPr>
        <p:sp>
          <p:nvSpPr>
            <p:cNvPr id="555" name="Google Shape;555;p54"/>
            <p:cNvSpPr/>
            <p:nvPr/>
          </p:nvSpPr>
          <p:spPr>
            <a:xfrm>
              <a:off x="2651512" y="3466935"/>
              <a:ext cx="22030" cy="129648"/>
            </a:xfrm>
            <a:custGeom>
              <a:avLst/>
              <a:gdLst/>
              <a:ahLst/>
              <a:cxnLst/>
              <a:rect l="l" t="t" r="r" b="b"/>
              <a:pathLst>
                <a:path w="817" h="4808" extrusionOk="0">
                  <a:moveTo>
                    <a:pt x="1" y="1"/>
                  </a:moveTo>
                  <a:lnTo>
                    <a:pt x="1" y="4808"/>
                  </a:lnTo>
                  <a:lnTo>
                    <a:pt x="816" y="4808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4"/>
            <p:cNvSpPr/>
            <p:nvPr/>
          </p:nvSpPr>
          <p:spPr>
            <a:xfrm>
              <a:off x="2640861" y="3413787"/>
              <a:ext cx="32682" cy="31846"/>
            </a:xfrm>
            <a:custGeom>
              <a:avLst/>
              <a:gdLst/>
              <a:ahLst/>
              <a:cxnLst/>
              <a:rect l="l" t="t" r="r" b="b"/>
              <a:pathLst>
                <a:path w="1212" h="1181" extrusionOk="0">
                  <a:moveTo>
                    <a:pt x="0" y="0"/>
                  </a:moveTo>
                  <a:lnTo>
                    <a:pt x="0" y="238"/>
                  </a:lnTo>
                  <a:cubicBezTo>
                    <a:pt x="0" y="761"/>
                    <a:pt x="420" y="1181"/>
                    <a:pt x="937" y="1181"/>
                  </a:cubicBezTo>
                  <a:lnTo>
                    <a:pt x="1211" y="1181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4"/>
            <p:cNvSpPr/>
            <p:nvPr/>
          </p:nvSpPr>
          <p:spPr>
            <a:xfrm>
              <a:off x="2526988" y="3290557"/>
              <a:ext cx="146555" cy="117513"/>
            </a:xfrm>
            <a:custGeom>
              <a:avLst/>
              <a:gdLst/>
              <a:ahLst/>
              <a:cxnLst/>
              <a:rect l="l" t="t" r="r" b="b"/>
              <a:pathLst>
                <a:path w="5435" h="4358" extrusionOk="0">
                  <a:moveTo>
                    <a:pt x="511" y="1"/>
                  </a:moveTo>
                  <a:cubicBezTo>
                    <a:pt x="335" y="25"/>
                    <a:pt x="165" y="68"/>
                    <a:pt x="0" y="129"/>
                  </a:cubicBezTo>
                  <a:cubicBezTo>
                    <a:pt x="347" y="621"/>
                    <a:pt x="554" y="1224"/>
                    <a:pt x="554" y="1869"/>
                  </a:cubicBezTo>
                  <a:cubicBezTo>
                    <a:pt x="554" y="1948"/>
                    <a:pt x="548" y="4357"/>
                    <a:pt x="548" y="4357"/>
                  </a:cubicBezTo>
                  <a:lnTo>
                    <a:pt x="3402" y="4357"/>
                  </a:lnTo>
                  <a:lnTo>
                    <a:pt x="3402" y="2100"/>
                  </a:lnTo>
                  <a:lnTo>
                    <a:pt x="4223" y="2100"/>
                  </a:lnTo>
                  <a:lnTo>
                    <a:pt x="4223" y="3755"/>
                  </a:lnTo>
                  <a:lnTo>
                    <a:pt x="5434" y="3755"/>
                  </a:lnTo>
                  <a:lnTo>
                    <a:pt x="5434" y="2276"/>
                  </a:lnTo>
                  <a:cubicBezTo>
                    <a:pt x="5434" y="1108"/>
                    <a:pt x="4564" y="147"/>
                    <a:pt x="3438" y="1"/>
                  </a:cubicBezTo>
                  <a:cubicBezTo>
                    <a:pt x="3097" y="433"/>
                    <a:pt x="2568" y="707"/>
                    <a:pt x="1978" y="707"/>
                  </a:cubicBezTo>
                  <a:lnTo>
                    <a:pt x="1972" y="707"/>
                  </a:lnTo>
                  <a:cubicBezTo>
                    <a:pt x="1382" y="707"/>
                    <a:pt x="858" y="433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4"/>
            <p:cNvSpPr/>
            <p:nvPr/>
          </p:nvSpPr>
          <p:spPr>
            <a:xfrm>
              <a:off x="2487107" y="3413787"/>
              <a:ext cx="32682" cy="31846"/>
            </a:xfrm>
            <a:custGeom>
              <a:avLst/>
              <a:gdLst/>
              <a:ahLst/>
              <a:cxnLst/>
              <a:rect l="l" t="t" r="r" b="b"/>
              <a:pathLst>
                <a:path w="1212" h="1181" extrusionOk="0">
                  <a:moveTo>
                    <a:pt x="378" y="0"/>
                  </a:moveTo>
                  <a:cubicBezTo>
                    <a:pt x="256" y="61"/>
                    <a:pt x="128" y="116"/>
                    <a:pt x="1" y="159"/>
                  </a:cubicBezTo>
                  <a:lnTo>
                    <a:pt x="1" y="1181"/>
                  </a:lnTo>
                  <a:lnTo>
                    <a:pt x="275" y="1181"/>
                  </a:lnTo>
                  <a:cubicBezTo>
                    <a:pt x="792" y="1181"/>
                    <a:pt x="1212" y="761"/>
                    <a:pt x="1212" y="238"/>
                  </a:cubicBez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4"/>
            <p:cNvSpPr/>
            <p:nvPr/>
          </p:nvSpPr>
          <p:spPr>
            <a:xfrm>
              <a:off x="2541738" y="3430182"/>
              <a:ext cx="77147" cy="166401"/>
            </a:xfrm>
            <a:custGeom>
              <a:avLst/>
              <a:gdLst/>
              <a:ahLst/>
              <a:cxnLst/>
              <a:rect l="l" t="t" r="r" b="b"/>
              <a:pathLst>
                <a:path w="2861" h="6171" extrusionOk="0">
                  <a:moveTo>
                    <a:pt x="1" y="1"/>
                  </a:moveTo>
                  <a:lnTo>
                    <a:pt x="1" y="6171"/>
                  </a:lnTo>
                  <a:lnTo>
                    <a:pt x="1023" y="6171"/>
                  </a:lnTo>
                  <a:lnTo>
                    <a:pt x="1023" y="1066"/>
                  </a:lnTo>
                  <a:lnTo>
                    <a:pt x="1839" y="1066"/>
                  </a:lnTo>
                  <a:lnTo>
                    <a:pt x="1839" y="6171"/>
                  </a:lnTo>
                  <a:lnTo>
                    <a:pt x="2861" y="6171"/>
                  </a:lnTo>
                  <a:lnTo>
                    <a:pt x="28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4"/>
            <p:cNvSpPr/>
            <p:nvPr/>
          </p:nvSpPr>
          <p:spPr>
            <a:xfrm>
              <a:off x="2551095" y="3219693"/>
              <a:ext cx="58433" cy="68599"/>
            </a:xfrm>
            <a:custGeom>
              <a:avLst/>
              <a:gdLst/>
              <a:ahLst/>
              <a:cxnLst/>
              <a:rect l="l" t="t" r="r" b="b"/>
              <a:pathLst>
                <a:path w="2167" h="2544" extrusionOk="0">
                  <a:moveTo>
                    <a:pt x="1084" y="0"/>
                  </a:moveTo>
                  <a:cubicBezTo>
                    <a:pt x="488" y="0"/>
                    <a:pt x="1" y="487"/>
                    <a:pt x="1" y="1083"/>
                  </a:cubicBezTo>
                  <a:lnTo>
                    <a:pt x="1" y="1460"/>
                  </a:lnTo>
                  <a:cubicBezTo>
                    <a:pt x="1" y="2057"/>
                    <a:pt x="481" y="2544"/>
                    <a:pt x="1078" y="2544"/>
                  </a:cubicBezTo>
                  <a:lnTo>
                    <a:pt x="1084" y="2544"/>
                  </a:lnTo>
                  <a:cubicBezTo>
                    <a:pt x="1680" y="2544"/>
                    <a:pt x="2167" y="2057"/>
                    <a:pt x="2167" y="1460"/>
                  </a:cubicBezTo>
                  <a:lnTo>
                    <a:pt x="2167" y="1083"/>
                  </a:lnTo>
                  <a:cubicBezTo>
                    <a:pt x="2167" y="487"/>
                    <a:pt x="1680" y="0"/>
                    <a:pt x="1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4"/>
            <p:cNvSpPr/>
            <p:nvPr/>
          </p:nvSpPr>
          <p:spPr>
            <a:xfrm>
              <a:off x="2399983" y="3280715"/>
              <a:ext cx="120614" cy="120614"/>
            </a:xfrm>
            <a:custGeom>
              <a:avLst/>
              <a:gdLst/>
              <a:ahLst/>
              <a:cxnLst/>
              <a:rect l="l" t="t" r="r" b="b"/>
              <a:pathLst>
                <a:path w="4473" h="4473" extrusionOk="0">
                  <a:moveTo>
                    <a:pt x="2648" y="1120"/>
                  </a:moveTo>
                  <a:lnTo>
                    <a:pt x="2648" y="2246"/>
                  </a:lnTo>
                  <a:lnTo>
                    <a:pt x="3268" y="2678"/>
                  </a:lnTo>
                  <a:lnTo>
                    <a:pt x="2800" y="3347"/>
                  </a:lnTo>
                  <a:lnTo>
                    <a:pt x="1826" y="2672"/>
                  </a:lnTo>
                  <a:lnTo>
                    <a:pt x="1826" y="1120"/>
                  </a:lnTo>
                  <a:close/>
                  <a:moveTo>
                    <a:pt x="2240" y="1"/>
                  </a:moveTo>
                  <a:cubicBezTo>
                    <a:pt x="1005" y="1"/>
                    <a:pt x="1" y="1005"/>
                    <a:pt x="1" y="2234"/>
                  </a:cubicBezTo>
                  <a:cubicBezTo>
                    <a:pt x="1" y="3469"/>
                    <a:pt x="1005" y="4473"/>
                    <a:pt x="2240" y="4473"/>
                  </a:cubicBezTo>
                  <a:cubicBezTo>
                    <a:pt x="3469" y="4473"/>
                    <a:pt x="4473" y="3469"/>
                    <a:pt x="4473" y="2234"/>
                  </a:cubicBezTo>
                  <a:cubicBezTo>
                    <a:pt x="4473" y="1005"/>
                    <a:pt x="3469" y="1"/>
                    <a:pt x="2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2" name="Google Shape;562;p54"/>
          <p:cNvSpPr txBox="1">
            <a:spLocks noGrp="1"/>
          </p:cNvSpPr>
          <p:nvPr>
            <p:ph type="subTitle" idx="1"/>
          </p:nvPr>
        </p:nvSpPr>
        <p:spPr>
          <a:xfrm>
            <a:off x="4566825" y="2555629"/>
            <a:ext cx="4371600" cy="24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ublic Sans"/>
              <a:buChar char="●"/>
            </a:pPr>
            <a:r>
              <a:rPr lang="en-GB" sz="1200">
                <a:solidFill>
                  <a:srgbClr val="000000"/>
                </a:solidFill>
              </a:rPr>
              <a:t>Balances operational capacity needs with fiscal constraints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ublic Sans"/>
              <a:buChar char="●"/>
            </a:pPr>
            <a:r>
              <a:rPr lang="en-GB" sz="1200">
                <a:solidFill>
                  <a:srgbClr val="000000"/>
                </a:solidFill>
              </a:rPr>
              <a:t>Baseline 3.53% expansion rate: BOR falls from 89.6% (2025) to 74.2% (2035)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ublic Sans"/>
              <a:buChar char="●"/>
            </a:pPr>
            <a:r>
              <a:rPr lang="en-GB" sz="1200">
                <a:solidFill>
                  <a:srgbClr val="000000"/>
                </a:solidFill>
              </a:rPr>
              <a:t>2% expansion rate: BOR stays above 86.8% through 2035, breaching safety threshold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Public Sans"/>
              <a:buChar char="●"/>
            </a:pPr>
            <a:r>
              <a:rPr lang="en-GB" sz="1200">
                <a:solidFill>
                  <a:srgbClr val="000000"/>
                </a:solidFill>
              </a:rPr>
              <a:t>3.53% expansion rate (MOH plan) keeps BOR within 85% threshold by 2032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subTitle" idx="4"/>
          </p:nvPr>
        </p:nvSpPr>
        <p:spPr>
          <a:xfrm>
            <a:off x="5116971" y="1897025"/>
            <a:ext cx="3821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Capacity Expansion vs Fiscal Sustainability</a:t>
            </a:r>
            <a:endParaRPr sz="1800"/>
          </a:p>
        </p:txBody>
      </p:sp>
      <p:pic>
        <p:nvPicPr>
          <p:cNvPr id="564" name="Google Shape;56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375" y="1025289"/>
            <a:ext cx="819400" cy="799787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grpSp>
        <p:nvGrpSpPr>
          <p:cNvPr id="565" name="Google Shape;565;p54"/>
          <p:cNvGrpSpPr/>
          <p:nvPr/>
        </p:nvGrpSpPr>
        <p:grpSpPr>
          <a:xfrm>
            <a:off x="1791865" y="1236743"/>
            <a:ext cx="322421" cy="376890"/>
            <a:chOff x="1561398" y="1414036"/>
            <a:chExt cx="322421" cy="376890"/>
          </a:xfrm>
        </p:grpSpPr>
        <p:sp>
          <p:nvSpPr>
            <p:cNvPr id="566" name="Google Shape;566;p54"/>
            <p:cNvSpPr/>
            <p:nvPr/>
          </p:nvSpPr>
          <p:spPr>
            <a:xfrm>
              <a:off x="1596183" y="1651112"/>
              <a:ext cx="253013" cy="139814"/>
            </a:xfrm>
            <a:custGeom>
              <a:avLst/>
              <a:gdLst/>
              <a:ahLst/>
              <a:cxnLst/>
              <a:rect l="l" t="t" r="r" b="b"/>
              <a:pathLst>
                <a:path w="9383" h="5185" extrusionOk="0">
                  <a:moveTo>
                    <a:pt x="5099" y="3268"/>
                  </a:moveTo>
                  <a:lnTo>
                    <a:pt x="5099" y="4083"/>
                  </a:lnTo>
                  <a:lnTo>
                    <a:pt x="4278" y="4083"/>
                  </a:lnTo>
                  <a:lnTo>
                    <a:pt x="4278" y="3268"/>
                  </a:lnTo>
                  <a:close/>
                  <a:moveTo>
                    <a:pt x="7989" y="1"/>
                  </a:moveTo>
                  <a:lnTo>
                    <a:pt x="6584" y="3177"/>
                  </a:lnTo>
                  <a:lnTo>
                    <a:pt x="4685" y="2021"/>
                  </a:lnTo>
                  <a:lnTo>
                    <a:pt x="2793" y="3177"/>
                  </a:lnTo>
                  <a:lnTo>
                    <a:pt x="1393" y="13"/>
                  </a:lnTo>
                  <a:lnTo>
                    <a:pt x="1083" y="86"/>
                  </a:lnTo>
                  <a:cubicBezTo>
                    <a:pt x="682" y="189"/>
                    <a:pt x="316" y="366"/>
                    <a:pt x="0" y="603"/>
                  </a:cubicBezTo>
                  <a:lnTo>
                    <a:pt x="675" y="1376"/>
                  </a:lnTo>
                  <a:cubicBezTo>
                    <a:pt x="1229" y="2002"/>
                    <a:pt x="1533" y="2812"/>
                    <a:pt x="1533" y="3651"/>
                  </a:cubicBezTo>
                  <a:lnTo>
                    <a:pt x="1533" y="5185"/>
                  </a:lnTo>
                  <a:lnTo>
                    <a:pt x="7843" y="5185"/>
                  </a:lnTo>
                  <a:lnTo>
                    <a:pt x="7843" y="3651"/>
                  </a:lnTo>
                  <a:cubicBezTo>
                    <a:pt x="7843" y="2812"/>
                    <a:pt x="8148" y="2002"/>
                    <a:pt x="8701" y="1376"/>
                  </a:cubicBezTo>
                  <a:lnTo>
                    <a:pt x="8701" y="1370"/>
                  </a:lnTo>
                  <a:lnTo>
                    <a:pt x="9383" y="597"/>
                  </a:lnTo>
                  <a:cubicBezTo>
                    <a:pt x="9066" y="360"/>
                    <a:pt x="8701" y="183"/>
                    <a:pt x="8306" y="80"/>
                  </a:cubicBezTo>
                  <a:lnTo>
                    <a:pt x="79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4"/>
            <p:cNvSpPr/>
            <p:nvPr/>
          </p:nvSpPr>
          <p:spPr>
            <a:xfrm>
              <a:off x="1655722" y="1641594"/>
              <a:ext cx="51233" cy="62370"/>
            </a:xfrm>
            <a:custGeom>
              <a:avLst/>
              <a:gdLst/>
              <a:ahLst/>
              <a:cxnLst/>
              <a:rect l="l" t="t" r="r" b="b"/>
              <a:pathLst>
                <a:path w="1900" h="2313" extrusionOk="0">
                  <a:moveTo>
                    <a:pt x="682" y="1"/>
                  </a:moveTo>
                  <a:lnTo>
                    <a:pt x="1" y="165"/>
                  </a:lnTo>
                  <a:lnTo>
                    <a:pt x="1005" y="2313"/>
                  </a:lnTo>
                  <a:lnTo>
                    <a:pt x="1899" y="1771"/>
                  </a:lnTo>
                  <a:lnTo>
                    <a:pt x="6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4"/>
            <p:cNvSpPr/>
            <p:nvPr/>
          </p:nvSpPr>
          <p:spPr>
            <a:xfrm>
              <a:off x="1829646" y="1682445"/>
              <a:ext cx="54173" cy="108480"/>
            </a:xfrm>
            <a:custGeom>
              <a:avLst/>
              <a:gdLst/>
              <a:ahLst/>
              <a:cxnLst/>
              <a:rect l="l" t="t" r="r" b="b"/>
              <a:pathLst>
                <a:path w="2009" h="4023" extrusionOk="0">
                  <a:moveTo>
                    <a:pt x="1309" y="1"/>
                  </a:moveTo>
                  <a:lnTo>
                    <a:pt x="658" y="749"/>
                  </a:lnTo>
                  <a:cubicBezTo>
                    <a:pt x="232" y="1230"/>
                    <a:pt x="1" y="1850"/>
                    <a:pt x="1" y="2489"/>
                  </a:cubicBezTo>
                  <a:lnTo>
                    <a:pt x="1" y="4023"/>
                  </a:lnTo>
                  <a:lnTo>
                    <a:pt x="2009" y="4023"/>
                  </a:lnTo>
                  <a:lnTo>
                    <a:pt x="2009" y="1984"/>
                  </a:lnTo>
                  <a:cubicBezTo>
                    <a:pt x="2009" y="1242"/>
                    <a:pt x="1753" y="548"/>
                    <a:pt x="1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1691828" y="1617810"/>
              <a:ext cx="63368" cy="55467"/>
            </a:xfrm>
            <a:custGeom>
              <a:avLst/>
              <a:gdLst/>
              <a:ahLst/>
              <a:cxnLst/>
              <a:rect l="l" t="t" r="r" b="b"/>
              <a:pathLst>
                <a:path w="2350" h="2057" extrusionOk="0">
                  <a:moveTo>
                    <a:pt x="2349" y="0"/>
                  </a:moveTo>
                  <a:cubicBezTo>
                    <a:pt x="1972" y="146"/>
                    <a:pt x="1564" y="219"/>
                    <a:pt x="1138" y="219"/>
                  </a:cubicBezTo>
                  <a:cubicBezTo>
                    <a:pt x="743" y="219"/>
                    <a:pt x="359" y="152"/>
                    <a:pt x="0" y="25"/>
                  </a:cubicBezTo>
                  <a:lnTo>
                    <a:pt x="0" y="396"/>
                  </a:lnTo>
                  <a:lnTo>
                    <a:pt x="1138" y="2057"/>
                  </a:lnTo>
                  <a:lnTo>
                    <a:pt x="2349" y="298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4"/>
            <p:cNvSpPr/>
            <p:nvPr/>
          </p:nvSpPr>
          <p:spPr>
            <a:xfrm>
              <a:off x="1561398" y="1682445"/>
              <a:ext cx="54173" cy="108480"/>
            </a:xfrm>
            <a:custGeom>
              <a:avLst/>
              <a:gdLst/>
              <a:ahLst/>
              <a:cxnLst/>
              <a:rect l="l" t="t" r="r" b="b"/>
              <a:pathLst>
                <a:path w="2009" h="4023" extrusionOk="0">
                  <a:moveTo>
                    <a:pt x="700" y="1"/>
                  </a:moveTo>
                  <a:cubicBezTo>
                    <a:pt x="256" y="554"/>
                    <a:pt x="0" y="1248"/>
                    <a:pt x="0" y="1990"/>
                  </a:cubicBezTo>
                  <a:lnTo>
                    <a:pt x="0" y="4023"/>
                  </a:lnTo>
                  <a:lnTo>
                    <a:pt x="2008" y="4023"/>
                  </a:lnTo>
                  <a:lnTo>
                    <a:pt x="2008" y="2489"/>
                  </a:lnTo>
                  <a:cubicBezTo>
                    <a:pt x="2008" y="1850"/>
                    <a:pt x="1777" y="1230"/>
                    <a:pt x="1351" y="749"/>
                  </a:cubicBezTo>
                  <a:lnTo>
                    <a:pt x="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4"/>
            <p:cNvSpPr/>
            <p:nvPr/>
          </p:nvSpPr>
          <p:spPr>
            <a:xfrm>
              <a:off x="1738262" y="1641270"/>
              <a:ext cx="51395" cy="62694"/>
            </a:xfrm>
            <a:custGeom>
              <a:avLst/>
              <a:gdLst/>
              <a:ahLst/>
              <a:cxnLst/>
              <a:rect l="l" t="t" r="r" b="b"/>
              <a:pathLst>
                <a:path w="1906" h="2325" extrusionOk="0">
                  <a:moveTo>
                    <a:pt x="1224" y="0"/>
                  </a:moveTo>
                  <a:lnTo>
                    <a:pt x="0" y="1783"/>
                  </a:lnTo>
                  <a:lnTo>
                    <a:pt x="895" y="2325"/>
                  </a:lnTo>
                  <a:lnTo>
                    <a:pt x="1905" y="165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4"/>
            <p:cNvSpPr/>
            <p:nvPr/>
          </p:nvSpPr>
          <p:spPr>
            <a:xfrm>
              <a:off x="1630968" y="1414036"/>
              <a:ext cx="183119" cy="188377"/>
            </a:xfrm>
            <a:custGeom>
              <a:avLst/>
              <a:gdLst/>
              <a:ahLst/>
              <a:cxnLst/>
              <a:rect l="l" t="t" r="r" b="b"/>
              <a:pathLst>
                <a:path w="6791" h="6986" extrusionOk="0">
                  <a:moveTo>
                    <a:pt x="3395" y="0"/>
                  </a:moveTo>
                  <a:cubicBezTo>
                    <a:pt x="2823" y="0"/>
                    <a:pt x="2294" y="189"/>
                    <a:pt x="1868" y="499"/>
                  </a:cubicBezTo>
                  <a:lnTo>
                    <a:pt x="2111" y="2130"/>
                  </a:lnTo>
                  <a:cubicBezTo>
                    <a:pt x="2160" y="2464"/>
                    <a:pt x="2063" y="2805"/>
                    <a:pt x="1844" y="3061"/>
                  </a:cubicBezTo>
                  <a:cubicBezTo>
                    <a:pt x="1625" y="3322"/>
                    <a:pt x="1302" y="3468"/>
                    <a:pt x="961" y="3468"/>
                  </a:cubicBezTo>
                  <a:lnTo>
                    <a:pt x="712" y="3474"/>
                  </a:lnTo>
                  <a:cubicBezTo>
                    <a:pt x="323" y="3474"/>
                    <a:pt x="0" y="3791"/>
                    <a:pt x="0" y="4186"/>
                  </a:cubicBezTo>
                  <a:cubicBezTo>
                    <a:pt x="0" y="4576"/>
                    <a:pt x="323" y="4892"/>
                    <a:pt x="712" y="4892"/>
                  </a:cubicBezTo>
                  <a:lnTo>
                    <a:pt x="834" y="4892"/>
                  </a:lnTo>
                  <a:cubicBezTo>
                    <a:pt x="1077" y="6085"/>
                    <a:pt x="2130" y="6985"/>
                    <a:pt x="3395" y="6985"/>
                  </a:cubicBezTo>
                  <a:cubicBezTo>
                    <a:pt x="4661" y="6985"/>
                    <a:pt x="5720" y="6091"/>
                    <a:pt x="5957" y="4892"/>
                  </a:cubicBezTo>
                  <a:lnTo>
                    <a:pt x="6085" y="4892"/>
                  </a:lnTo>
                  <a:cubicBezTo>
                    <a:pt x="6474" y="4892"/>
                    <a:pt x="6791" y="4576"/>
                    <a:pt x="6791" y="4186"/>
                  </a:cubicBezTo>
                  <a:cubicBezTo>
                    <a:pt x="6791" y="3791"/>
                    <a:pt x="6474" y="3474"/>
                    <a:pt x="6085" y="3474"/>
                  </a:cubicBezTo>
                  <a:lnTo>
                    <a:pt x="5829" y="3468"/>
                  </a:lnTo>
                  <a:cubicBezTo>
                    <a:pt x="5495" y="3468"/>
                    <a:pt x="5172" y="3322"/>
                    <a:pt x="4953" y="3061"/>
                  </a:cubicBezTo>
                  <a:cubicBezTo>
                    <a:pt x="4728" y="2805"/>
                    <a:pt x="4631" y="2464"/>
                    <a:pt x="4685" y="2130"/>
                  </a:cubicBezTo>
                  <a:lnTo>
                    <a:pt x="4929" y="499"/>
                  </a:lnTo>
                  <a:cubicBezTo>
                    <a:pt x="4497" y="189"/>
                    <a:pt x="3967" y="0"/>
                    <a:pt x="3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4"/>
            <p:cNvSpPr/>
            <p:nvPr/>
          </p:nvSpPr>
          <p:spPr>
            <a:xfrm>
              <a:off x="1637520" y="1436174"/>
              <a:ext cx="29230" cy="49238"/>
            </a:xfrm>
            <a:custGeom>
              <a:avLst/>
              <a:gdLst/>
              <a:ahLst/>
              <a:cxnLst/>
              <a:rect l="l" t="t" r="r" b="b"/>
              <a:pathLst>
                <a:path w="1084" h="1826" extrusionOk="0">
                  <a:moveTo>
                    <a:pt x="816" y="0"/>
                  </a:moveTo>
                  <a:cubicBezTo>
                    <a:pt x="365" y="0"/>
                    <a:pt x="0" y="372"/>
                    <a:pt x="0" y="822"/>
                  </a:cubicBezTo>
                  <a:lnTo>
                    <a:pt x="0" y="1826"/>
                  </a:lnTo>
                  <a:lnTo>
                    <a:pt x="725" y="1826"/>
                  </a:lnTo>
                  <a:cubicBezTo>
                    <a:pt x="858" y="1826"/>
                    <a:pt x="944" y="1753"/>
                    <a:pt x="980" y="1710"/>
                  </a:cubicBezTo>
                  <a:cubicBezTo>
                    <a:pt x="1023" y="1662"/>
                    <a:pt x="1084" y="1570"/>
                    <a:pt x="1059" y="1436"/>
                  </a:cubicBezTo>
                  <a:lnTo>
                    <a:pt x="852" y="7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4"/>
            <p:cNvSpPr/>
            <p:nvPr/>
          </p:nvSpPr>
          <p:spPr>
            <a:xfrm>
              <a:off x="1778466" y="1436174"/>
              <a:ext cx="29230" cy="49238"/>
            </a:xfrm>
            <a:custGeom>
              <a:avLst/>
              <a:gdLst/>
              <a:ahLst/>
              <a:cxnLst/>
              <a:rect l="l" t="t" r="r" b="b"/>
              <a:pathLst>
                <a:path w="1084" h="1826" extrusionOk="0">
                  <a:moveTo>
                    <a:pt x="225" y="0"/>
                  </a:moveTo>
                  <a:lnTo>
                    <a:pt x="232" y="7"/>
                  </a:lnTo>
                  <a:lnTo>
                    <a:pt x="25" y="1436"/>
                  </a:lnTo>
                  <a:cubicBezTo>
                    <a:pt x="0" y="1570"/>
                    <a:pt x="61" y="1668"/>
                    <a:pt x="104" y="1710"/>
                  </a:cubicBezTo>
                  <a:cubicBezTo>
                    <a:pt x="140" y="1753"/>
                    <a:pt x="225" y="1826"/>
                    <a:pt x="359" y="1826"/>
                  </a:cubicBezTo>
                  <a:lnTo>
                    <a:pt x="1083" y="1826"/>
                  </a:lnTo>
                  <a:lnTo>
                    <a:pt x="1083" y="822"/>
                  </a:lnTo>
                  <a:cubicBezTo>
                    <a:pt x="1083" y="372"/>
                    <a:pt x="712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>
            <a:spLocks noGrp="1"/>
          </p:cNvSpPr>
          <p:nvPr>
            <p:ph type="title"/>
          </p:nvPr>
        </p:nvSpPr>
        <p:spPr>
          <a:xfrm>
            <a:off x="632075" y="28690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Sensitivity Analysis</a:t>
            </a:r>
            <a:endParaRPr/>
          </a:p>
        </p:txBody>
      </p:sp>
      <p:sp>
        <p:nvSpPr>
          <p:cNvPr id="580" name="Google Shape;580;p55"/>
          <p:cNvSpPr txBox="1">
            <a:spLocks noGrp="1"/>
          </p:cNvSpPr>
          <p:nvPr>
            <p:ph type="subTitle" idx="1"/>
          </p:nvPr>
        </p:nvSpPr>
        <p:spPr>
          <a:xfrm>
            <a:off x="293425" y="2526553"/>
            <a:ext cx="3618000" cy="22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At 2.7% inflation (base): deficit SGD 951M by 2035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At 5% inflation: deficit balloons to SGD 3.6B by 2035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At 8% inflation: deficit reaches SGD 9.6B — fiscal crisis threshold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Each 1% rise in inflation adds ~SGD 700M to 2035 deficit</a:t>
            </a:r>
            <a:endParaRPr sz="1200"/>
          </a:p>
        </p:txBody>
      </p:sp>
      <p:sp>
        <p:nvSpPr>
          <p:cNvPr id="581" name="Google Shape;581;p55"/>
          <p:cNvSpPr txBox="1">
            <a:spLocks noGrp="1"/>
          </p:cNvSpPr>
          <p:nvPr>
            <p:ph type="subTitle" idx="4"/>
          </p:nvPr>
        </p:nvSpPr>
        <p:spPr>
          <a:xfrm>
            <a:off x="293425" y="1879150"/>
            <a:ext cx="3748200" cy="7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Medical Cost Inflation vs Government Health Subsidies</a:t>
            </a:r>
            <a:endParaRPr sz="1700"/>
          </a:p>
        </p:txBody>
      </p:sp>
      <p:pic>
        <p:nvPicPr>
          <p:cNvPr id="582" name="Google Shape;5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075" y="1006100"/>
            <a:ext cx="819400" cy="7998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pic>
        <p:nvPicPr>
          <p:cNvPr id="583" name="Google Shape;58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25" y="1006100"/>
            <a:ext cx="819400" cy="7998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grpSp>
        <p:nvGrpSpPr>
          <p:cNvPr id="584" name="Google Shape;584;p55"/>
          <p:cNvGrpSpPr/>
          <p:nvPr/>
        </p:nvGrpSpPr>
        <p:grpSpPr>
          <a:xfrm>
            <a:off x="6886145" y="1217555"/>
            <a:ext cx="273560" cy="376890"/>
            <a:chOff x="2399983" y="3219693"/>
            <a:chExt cx="273560" cy="376890"/>
          </a:xfrm>
        </p:grpSpPr>
        <p:sp>
          <p:nvSpPr>
            <p:cNvPr id="585" name="Google Shape;585;p55"/>
            <p:cNvSpPr/>
            <p:nvPr/>
          </p:nvSpPr>
          <p:spPr>
            <a:xfrm>
              <a:off x="2651512" y="3466935"/>
              <a:ext cx="22030" cy="129648"/>
            </a:xfrm>
            <a:custGeom>
              <a:avLst/>
              <a:gdLst/>
              <a:ahLst/>
              <a:cxnLst/>
              <a:rect l="l" t="t" r="r" b="b"/>
              <a:pathLst>
                <a:path w="817" h="4808" extrusionOk="0">
                  <a:moveTo>
                    <a:pt x="1" y="1"/>
                  </a:moveTo>
                  <a:lnTo>
                    <a:pt x="1" y="4808"/>
                  </a:lnTo>
                  <a:lnTo>
                    <a:pt x="816" y="4808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5"/>
            <p:cNvSpPr/>
            <p:nvPr/>
          </p:nvSpPr>
          <p:spPr>
            <a:xfrm>
              <a:off x="2640861" y="3413787"/>
              <a:ext cx="32682" cy="31846"/>
            </a:xfrm>
            <a:custGeom>
              <a:avLst/>
              <a:gdLst/>
              <a:ahLst/>
              <a:cxnLst/>
              <a:rect l="l" t="t" r="r" b="b"/>
              <a:pathLst>
                <a:path w="1212" h="1181" extrusionOk="0">
                  <a:moveTo>
                    <a:pt x="0" y="0"/>
                  </a:moveTo>
                  <a:lnTo>
                    <a:pt x="0" y="238"/>
                  </a:lnTo>
                  <a:cubicBezTo>
                    <a:pt x="0" y="761"/>
                    <a:pt x="420" y="1181"/>
                    <a:pt x="937" y="1181"/>
                  </a:cubicBezTo>
                  <a:lnTo>
                    <a:pt x="1211" y="1181"/>
                  </a:lnTo>
                  <a:lnTo>
                    <a:pt x="12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5"/>
            <p:cNvSpPr/>
            <p:nvPr/>
          </p:nvSpPr>
          <p:spPr>
            <a:xfrm>
              <a:off x="2526988" y="3290557"/>
              <a:ext cx="146555" cy="117513"/>
            </a:xfrm>
            <a:custGeom>
              <a:avLst/>
              <a:gdLst/>
              <a:ahLst/>
              <a:cxnLst/>
              <a:rect l="l" t="t" r="r" b="b"/>
              <a:pathLst>
                <a:path w="5435" h="4358" extrusionOk="0">
                  <a:moveTo>
                    <a:pt x="511" y="1"/>
                  </a:moveTo>
                  <a:cubicBezTo>
                    <a:pt x="335" y="25"/>
                    <a:pt x="165" y="68"/>
                    <a:pt x="0" y="129"/>
                  </a:cubicBezTo>
                  <a:cubicBezTo>
                    <a:pt x="347" y="621"/>
                    <a:pt x="554" y="1224"/>
                    <a:pt x="554" y="1869"/>
                  </a:cubicBezTo>
                  <a:cubicBezTo>
                    <a:pt x="554" y="1948"/>
                    <a:pt x="548" y="4357"/>
                    <a:pt x="548" y="4357"/>
                  </a:cubicBezTo>
                  <a:lnTo>
                    <a:pt x="3402" y="4357"/>
                  </a:lnTo>
                  <a:lnTo>
                    <a:pt x="3402" y="2100"/>
                  </a:lnTo>
                  <a:lnTo>
                    <a:pt x="4223" y="2100"/>
                  </a:lnTo>
                  <a:lnTo>
                    <a:pt x="4223" y="3755"/>
                  </a:lnTo>
                  <a:lnTo>
                    <a:pt x="5434" y="3755"/>
                  </a:lnTo>
                  <a:lnTo>
                    <a:pt x="5434" y="2276"/>
                  </a:lnTo>
                  <a:cubicBezTo>
                    <a:pt x="5434" y="1108"/>
                    <a:pt x="4564" y="147"/>
                    <a:pt x="3438" y="1"/>
                  </a:cubicBezTo>
                  <a:cubicBezTo>
                    <a:pt x="3097" y="433"/>
                    <a:pt x="2568" y="707"/>
                    <a:pt x="1978" y="707"/>
                  </a:cubicBezTo>
                  <a:lnTo>
                    <a:pt x="1972" y="707"/>
                  </a:lnTo>
                  <a:cubicBezTo>
                    <a:pt x="1382" y="707"/>
                    <a:pt x="858" y="433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5"/>
            <p:cNvSpPr/>
            <p:nvPr/>
          </p:nvSpPr>
          <p:spPr>
            <a:xfrm>
              <a:off x="2487107" y="3413787"/>
              <a:ext cx="32682" cy="31846"/>
            </a:xfrm>
            <a:custGeom>
              <a:avLst/>
              <a:gdLst/>
              <a:ahLst/>
              <a:cxnLst/>
              <a:rect l="l" t="t" r="r" b="b"/>
              <a:pathLst>
                <a:path w="1212" h="1181" extrusionOk="0">
                  <a:moveTo>
                    <a:pt x="378" y="0"/>
                  </a:moveTo>
                  <a:cubicBezTo>
                    <a:pt x="256" y="61"/>
                    <a:pt x="128" y="116"/>
                    <a:pt x="1" y="159"/>
                  </a:cubicBezTo>
                  <a:lnTo>
                    <a:pt x="1" y="1181"/>
                  </a:lnTo>
                  <a:lnTo>
                    <a:pt x="275" y="1181"/>
                  </a:lnTo>
                  <a:cubicBezTo>
                    <a:pt x="792" y="1181"/>
                    <a:pt x="1212" y="761"/>
                    <a:pt x="1212" y="238"/>
                  </a:cubicBez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5"/>
            <p:cNvSpPr/>
            <p:nvPr/>
          </p:nvSpPr>
          <p:spPr>
            <a:xfrm>
              <a:off x="2541738" y="3430182"/>
              <a:ext cx="77147" cy="166401"/>
            </a:xfrm>
            <a:custGeom>
              <a:avLst/>
              <a:gdLst/>
              <a:ahLst/>
              <a:cxnLst/>
              <a:rect l="l" t="t" r="r" b="b"/>
              <a:pathLst>
                <a:path w="2861" h="6171" extrusionOk="0">
                  <a:moveTo>
                    <a:pt x="1" y="1"/>
                  </a:moveTo>
                  <a:lnTo>
                    <a:pt x="1" y="6171"/>
                  </a:lnTo>
                  <a:lnTo>
                    <a:pt x="1023" y="6171"/>
                  </a:lnTo>
                  <a:lnTo>
                    <a:pt x="1023" y="1066"/>
                  </a:lnTo>
                  <a:lnTo>
                    <a:pt x="1839" y="1066"/>
                  </a:lnTo>
                  <a:lnTo>
                    <a:pt x="1839" y="6171"/>
                  </a:lnTo>
                  <a:lnTo>
                    <a:pt x="2861" y="6171"/>
                  </a:lnTo>
                  <a:lnTo>
                    <a:pt x="28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5"/>
            <p:cNvSpPr/>
            <p:nvPr/>
          </p:nvSpPr>
          <p:spPr>
            <a:xfrm>
              <a:off x="2551095" y="3219693"/>
              <a:ext cx="58433" cy="68599"/>
            </a:xfrm>
            <a:custGeom>
              <a:avLst/>
              <a:gdLst/>
              <a:ahLst/>
              <a:cxnLst/>
              <a:rect l="l" t="t" r="r" b="b"/>
              <a:pathLst>
                <a:path w="2167" h="2544" extrusionOk="0">
                  <a:moveTo>
                    <a:pt x="1084" y="0"/>
                  </a:moveTo>
                  <a:cubicBezTo>
                    <a:pt x="488" y="0"/>
                    <a:pt x="1" y="487"/>
                    <a:pt x="1" y="1083"/>
                  </a:cubicBezTo>
                  <a:lnTo>
                    <a:pt x="1" y="1460"/>
                  </a:lnTo>
                  <a:cubicBezTo>
                    <a:pt x="1" y="2057"/>
                    <a:pt x="481" y="2544"/>
                    <a:pt x="1078" y="2544"/>
                  </a:cubicBezTo>
                  <a:lnTo>
                    <a:pt x="1084" y="2544"/>
                  </a:lnTo>
                  <a:cubicBezTo>
                    <a:pt x="1680" y="2544"/>
                    <a:pt x="2167" y="2057"/>
                    <a:pt x="2167" y="1460"/>
                  </a:cubicBezTo>
                  <a:lnTo>
                    <a:pt x="2167" y="1083"/>
                  </a:lnTo>
                  <a:cubicBezTo>
                    <a:pt x="2167" y="487"/>
                    <a:pt x="1680" y="0"/>
                    <a:pt x="1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5"/>
            <p:cNvSpPr/>
            <p:nvPr/>
          </p:nvSpPr>
          <p:spPr>
            <a:xfrm>
              <a:off x="2399983" y="3280715"/>
              <a:ext cx="120614" cy="120614"/>
            </a:xfrm>
            <a:custGeom>
              <a:avLst/>
              <a:gdLst/>
              <a:ahLst/>
              <a:cxnLst/>
              <a:rect l="l" t="t" r="r" b="b"/>
              <a:pathLst>
                <a:path w="4473" h="4473" extrusionOk="0">
                  <a:moveTo>
                    <a:pt x="2648" y="1120"/>
                  </a:moveTo>
                  <a:lnTo>
                    <a:pt x="2648" y="2246"/>
                  </a:lnTo>
                  <a:lnTo>
                    <a:pt x="3268" y="2678"/>
                  </a:lnTo>
                  <a:lnTo>
                    <a:pt x="2800" y="3347"/>
                  </a:lnTo>
                  <a:lnTo>
                    <a:pt x="1826" y="2672"/>
                  </a:lnTo>
                  <a:lnTo>
                    <a:pt x="1826" y="1120"/>
                  </a:lnTo>
                  <a:close/>
                  <a:moveTo>
                    <a:pt x="2240" y="1"/>
                  </a:moveTo>
                  <a:cubicBezTo>
                    <a:pt x="1005" y="1"/>
                    <a:pt x="1" y="1005"/>
                    <a:pt x="1" y="2234"/>
                  </a:cubicBezTo>
                  <a:cubicBezTo>
                    <a:pt x="1" y="3469"/>
                    <a:pt x="1005" y="4473"/>
                    <a:pt x="2240" y="4473"/>
                  </a:cubicBezTo>
                  <a:cubicBezTo>
                    <a:pt x="3469" y="4473"/>
                    <a:pt x="4473" y="3469"/>
                    <a:pt x="4473" y="2234"/>
                  </a:cubicBezTo>
                  <a:cubicBezTo>
                    <a:pt x="4473" y="1005"/>
                    <a:pt x="3469" y="1"/>
                    <a:pt x="2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2" name="Google Shape;592;p55"/>
          <p:cNvGrpSpPr/>
          <p:nvPr/>
        </p:nvGrpSpPr>
        <p:grpSpPr>
          <a:xfrm>
            <a:off x="1764685" y="1223380"/>
            <a:ext cx="380180" cy="365241"/>
            <a:chOff x="2346673" y="2021773"/>
            <a:chExt cx="380180" cy="365241"/>
          </a:xfrm>
        </p:grpSpPr>
        <p:sp>
          <p:nvSpPr>
            <p:cNvPr id="593" name="Google Shape;593;p55"/>
            <p:cNvSpPr/>
            <p:nvPr/>
          </p:nvSpPr>
          <p:spPr>
            <a:xfrm>
              <a:off x="2666774" y="2021773"/>
              <a:ext cx="58433" cy="222515"/>
            </a:xfrm>
            <a:custGeom>
              <a:avLst/>
              <a:gdLst/>
              <a:ahLst/>
              <a:cxnLst/>
              <a:rect l="l" t="t" r="r" b="b"/>
              <a:pathLst>
                <a:path w="2167" h="8252" extrusionOk="0">
                  <a:moveTo>
                    <a:pt x="585" y="0"/>
                  </a:moveTo>
                  <a:lnTo>
                    <a:pt x="1" y="578"/>
                  </a:lnTo>
                  <a:lnTo>
                    <a:pt x="828" y="1406"/>
                  </a:lnTo>
                  <a:cubicBezTo>
                    <a:pt x="1163" y="1740"/>
                    <a:pt x="1345" y="2178"/>
                    <a:pt x="1345" y="2647"/>
                  </a:cubicBezTo>
                  <a:lnTo>
                    <a:pt x="1345" y="7472"/>
                  </a:lnTo>
                  <a:cubicBezTo>
                    <a:pt x="1656" y="7691"/>
                    <a:pt x="1936" y="7953"/>
                    <a:pt x="2167" y="8251"/>
                  </a:cubicBezTo>
                  <a:lnTo>
                    <a:pt x="2167" y="2647"/>
                  </a:lnTo>
                  <a:cubicBezTo>
                    <a:pt x="2167" y="1959"/>
                    <a:pt x="1899" y="1314"/>
                    <a:pt x="1412" y="828"/>
                  </a:cubicBezTo>
                  <a:lnTo>
                    <a:pt x="5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5"/>
            <p:cNvSpPr/>
            <p:nvPr/>
          </p:nvSpPr>
          <p:spPr>
            <a:xfrm>
              <a:off x="2348291" y="2021773"/>
              <a:ext cx="59107" cy="222515"/>
            </a:xfrm>
            <a:custGeom>
              <a:avLst/>
              <a:gdLst/>
              <a:ahLst/>
              <a:cxnLst/>
              <a:rect l="l" t="t" r="r" b="b"/>
              <a:pathLst>
                <a:path w="2192" h="8252" extrusionOk="0">
                  <a:moveTo>
                    <a:pt x="1607" y="0"/>
                  </a:moveTo>
                  <a:lnTo>
                    <a:pt x="780" y="828"/>
                  </a:lnTo>
                  <a:cubicBezTo>
                    <a:pt x="281" y="1327"/>
                    <a:pt x="1" y="1996"/>
                    <a:pt x="1" y="2702"/>
                  </a:cubicBezTo>
                  <a:lnTo>
                    <a:pt x="1" y="8251"/>
                  </a:lnTo>
                  <a:cubicBezTo>
                    <a:pt x="238" y="7947"/>
                    <a:pt x="524" y="7673"/>
                    <a:pt x="847" y="7454"/>
                  </a:cubicBezTo>
                  <a:lnTo>
                    <a:pt x="847" y="2647"/>
                  </a:lnTo>
                  <a:cubicBezTo>
                    <a:pt x="847" y="2178"/>
                    <a:pt x="1029" y="1740"/>
                    <a:pt x="1358" y="1406"/>
                  </a:cubicBezTo>
                  <a:lnTo>
                    <a:pt x="2191" y="578"/>
                  </a:lnTo>
                  <a:lnTo>
                    <a:pt x="16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5"/>
            <p:cNvSpPr/>
            <p:nvPr/>
          </p:nvSpPr>
          <p:spPr>
            <a:xfrm>
              <a:off x="2346673" y="2226006"/>
              <a:ext cx="380180" cy="161008"/>
            </a:xfrm>
            <a:custGeom>
              <a:avLst/>
              <a:gdLst/>
              <a:ahLst/>
              <a:cxnLst/>
              <a:rect l="l" t="t" r="r" b="b"/>
              <a:pathLst>
                <a:path w="14099" h="5971" extrusionOk="0">
                  <a:moveTo>
                    <a:pt x="3049" y="823"/>
                  </a:moveTo>
                  <a:cubicBezTo>
                    <a:pt x="4241" y="823"/>
                    <a:pt x="5209" y="1791"/>
                    <a:pt x="5209" y="2989"/>
                  </a:cubicBezTo>
                  <a:cubicBezTo>
                    <a:pt x="5209" y="4182"/>
                    <a:pt x="4241" y="5155"/>
                    <a:pt x="3049" y="5155"/>
                  </a:cubicBezTo>
                  <a:cubicBezTo>
                    <a:pt x="1850" y="5155"/>
                    <a:pt x="882" y="4182"/>
                    <a:pt x="882" y="2989"/>
                  </a:cubicBezTo>
                  <a:cubicBezTo>
                    <a:pt x="882" y="1791"/>
                    <a:pt x="1850" y="823"/>
                    <a:pt x="3049" y="823"/>
                  </a:cubicBezTo>
                  <a:close/>
                  <a:moveTo>
                    <a:pt x="11050" y="823"/>
                  </a:moveTo>
                  <a:cubicBezTo>
                    <a:pt x="12249" y="823"/>
                    <a:pt x="13216" y="1791"/>
                    <a:pt x="13216" y="2989"/>
                  </a:cubicBezTo>
                  <a:cubicBezTo>
                    <a:pt x="13216" y="4182"/>
                    <a:pt x="12249" y="5155"/>
                    <a:pt x="11050" y="5155"/>
                  </a:cubicBezTo>
                  <a:cubicBezTo>
                    <a:pt x="9858" y="5155"/>
                    <a:pt x="8884" y="4182"/>
                    <a:pt x="8884" y="2989"/>
                  </a:cubicBezTo>
                  <a:cubicBezTo>
                    <a:pt x="8884" y="1791"/>
                    <a:pt x="9858" y="823"/>
                    <a:pt x="11050" y="823"/>
                  </a:cubicBezTo>
                  <a:close/>
                  <a:moveTo>
                    <a:pt x="3035" y="0"/>
                  </a:moveTo>
                  <a:cubicBezTo>
                    <a:pt x="3007" y="0"/>
                    <a:pt x="2979" y="1"/>
                    <a:pt x="2951" y="2"/>
                  </a:cubicBezTo>
                  <a:cubicBezTo>
                    <a:pt x="1393" y="50"/>
                    <a:pt x="122" y="1310"/>
                    <a:pt x="61" y="2868"/>
                  </a:cubicBezTo>
                  <a:cubicBezTo>
                    <a:pt x="0" y="4565"/>
                    <a:pt x="1363" y="5971"/>
                    <a:pt x="3049" y="5971"/>
                  </a:cubicBezTo>
                  <a:cubicBezTo>
                    <a:pt x="4728" y="5971"/>
                    <a:pt x="6030" y="4632"/>
                    <a:pt x="6030" y="2989"/>
                  </a:cubicBezTo>
                  <a:cubicBezTo>
                    <a:pt x="6030" y="2898"/>
                    <a:pt x="6024" y="2807"/>
                    <a:pt x="6018" y="2722"/>
                  </a:cubicBezTo>
                  <a:cubicBezTo>
                    <a:pt x="5988" y="2393"/>
                    <a:pt x="6103" y="2064"/>
                    <a:pt x="6347" y="1845"/>
                  </a:cubicBezTo>
                  <a:cubicBezTo>
                    <a:pt x="6535" y="1675"/>
                    <a:pt x="6779" y="1571"/>
                    <a:pt x="7046" y="1571"/>
                  </a:cubicBezTo>
                  <a:cubicBezTo>
                    <a:pt x="7320" y="1571"/>
                    <a:pt x="7564" y="1675"/>
                    <a:pt x="7746" y="1845"/>
                  </a:cubicBezTo>
                  <a:cubicBezTo>
                    <a:pt x="7996" y="2064"/>
                    <a:pt x="8111" y="2393"/>
                    <a:pt x="8081" y="2722"/>
                  </a:cubicBezTo>
                  <a:cubicBezTo>
                    <a:pt x="8075" y="2807"/>
                    <a:pt x="8069" y="2898"/>
                    <a:pt x="8069" y="2989"/>
                  </a:cubicBezTo>
                  <a:cubicBezTo>
                    <a:pt x="8069" y="4632"/>
                    <a:pt x="9407" y="5971"/>
                    <a:pt x="11050" y="5971"/>
                  </a:cubicBezTo>
                  <a:cubicBezTo>
                    <a:pt x="12699" y="5971"/>
                    <a:pt x="14099" y="4571"/>
                    <a:pt x="14032" y="2868"/>
                  </a:cubicBezTo>
                  <a:cubicBezTo>
                    <a:pt x="13977" y="1310"/>
                    <a:pt x="12705" y="50"/>
                    <a:pt x="11147" y="2"/>
                  </a:cubicBezTo>
                  <a:cubicBezTo>
                    <a:pt x="11119" y="1"/>
                    <a:pt x="11091" y="0"/>
                    <a:pt x="11064" y="0"/>
                  </a:cubicBezTo>
                  <a:cubicBezTo>
                    <a:pt x="9973" y="0"/>
                    <a:pt x="9023" y="577"/>
                    <a:pt x="8495" y="1444"/>
                  </a:cubicBezTo>
                  <a:cubicBezTo>
                    <a:pt x="8154" y="1024"/>
                    <a:pt x="7630" y="756"/>
                    <a:pt x="7046" y="756"/>
                  </a:cubicBezTo>
                  <a:cubicBezTo>
                    <a:pt x="6462" y="756"/>
                    <a:pt x="5945" y="1024"/>
                    <a:pt x="5598" y="1444"/>
                  </a:cubicBezTo>
                  <a:cubicBezTo>
                    <a:pt x="5076" y="577"/>
                    <a:pt x="4120" y="0"/>
                    <a:pt x="3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6" name="Google Shape;596;p55"/>
          <p:cNvSpPr txBox="1">
            <a:spLocks noGrp="1"/>
          </p:cNvSpPr>
          <p:nvPr>
            <p:ph type="subTitle" idx="1"/>
          </p:nvPr>
        </p:nvSpPr>
        <p:spPr>
          <a:xfrm>
            <a:off x="4748650" y="2492675"/>
            <a:ext cx="4101900" cy="24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Bed expansion rate is the #1 BOR driver: 3.53%→2% raises BOR by 12.7pp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ALOS reduction: 10% ALOS cut reduces BOR by ~5.5pp — policy lever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65+ population growth: 1.5% faster growth adds only 0.68pp to BOR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ublic Sans"/>
              <a:buChar char="●"/>
            </a:pPr>
            <a:r>
              <a:rPr lang="en-GB" sz="1200"/>
              <a:t>Healthier SG policy factor: -0.6% efficiency gain reduces BOR by 3.3pp</a:t>
            </a:r>
            <a:endParaRPr sz="1200"/>
          </a:p>
        </p:txBody>
      </p:sp>
      <p:sp>
        <p:nvSpPr>
          <p:cNvPr id="597" name="Google Shape;597;p55"/>
          <p:cNvSpPr txBox="1">
            <a:spLocks noGrp="1"/>
          </p:cNvSpPr>
          <p:nvPr>
            <p:ph type="subTitle" idx="4"/>
          </p:nvPr>
        </p:nvSpPr>
        <p:spPr>
          <a:xfrm>
            <a:off x="5029046" y="1850525"/>
            <a:ext cx="3821400" cy="7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Elderly Population Growth Rate vs Projected Hospital Admissions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6"/>
          <p:cNvSpPr txBox="1">
            <a:spLocks noGrp="1"/>
          </p:cNvSpPr>
          <p:nvPr>
            <p:ph type="title"/>
          </p:nvPr>
        </p:nvSpPr>
        <p:spPr>
          <a:xfrm>
            <a:off x="720000" y="231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Influence Diagram </a:t>
            </a:r>
            <a:endParaRPr dirty="0"/>
          </a:p>
        </p:txBody>
      </p:sp>
      <p:pic>
        <p:nvPicPr>
          <p:cNvPr id="603" name="Google Shape;6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096" y="4310050"/>
            <a:ext cx="273233" cy="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150" y="4093826"/>
            <a:ext cx="223575" cy="35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56" title="Screenshot 2026-02-24 at 8.37.4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00" y="1017725"/>
            <a:ext cx="7623076" cy="383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96635">
            <a:off x="8162044" y="3799161"/>
            <a:ext cx="830637" cy="119893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7"/>
          <p:cNvSpPr txBox="1">
            <a:spLocks noGrp="1"/>
          </p:cNvSpPr>
          <p:nvPr>
            <p:ph type="title"/>
          </p:nvPr>
        </p:nvSpPr>
        <p:spPr>
          <a:xfrm>
            <a:off x="720000" y="249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Black Box Model</a:t>
            </a:r>
            <a:endParaRPr dirty="0"/>
          </a:p>
        </p:txBody>
      </p:sp>
      <p:pic>
        <p:nvPicPr>
          <p:cNvPr id="612" name="Google Shape;61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29130">
            <a:off x="8156893" y="415536"/>
            <a:ext cx="830637" cy="1198929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  <p:pic>
        <p:nvPicPr>
          <p:cNvPr id="613" name="Google Shape;613;p57" title="Screenshot 2026-02-24 at 8.38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625" y="1032425"/>
            <a:ext cx="7093276" cy="395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8"/>
          <p:cNvSpPr txBox="1">
            <a:spLocks noGrp="1"/>
          </p:cNvSpPr>
          <p:nvPr>
            <p:ph type="title"/>
          </p:nvPr>
        </p:nvSpPr>
        <p:spPr>
          <a:xfrm>
            <a:off x="318052" y="316850"/>
            <a:ext cx="8730532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Findings &amp; Recommendations</a:t>
            </a:r>
            <a:endParaRPr dirty="0"/>
          </a:p>
        </p:txBody>
      </p:sp>
      <p:sp>
        <p:nvSpPr>
          <p:cNvPr id="619" name="Google Shape;619;p58"/>
          <p:cNvSpPr txBox="1"/>
          <p:nvPr/>
        </p:nvSpPr>
        <p:spPr>
          <a:xfrm>
            <a:off x="1006700" y="1693073"/>
            <a:ext cx="2293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Demographics → admissions → BOR → expenditure (2026–2035)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0" name="Google Shape;620;p58"/>
          <p:cNvSpPr txBox="1"/>
          <p:nvPr/>
        </p:nvSpPr>
        <p:spPr>
          <a:xfrm>
            <a:off x="1006700" y="1121998"/>
            <a:ext cx="270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rPr>
              <a:t>Hospital Capacity</a:t>
            </a:r>
            <a:endParaRPr sz="1600">
              <a:solidFill>
                <a:schemeClr val="dk2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621" name="Google Shape;621;p58"/>
          <p:cNvSpPr/>
          <p:nvPr/>
        </p:nvSpPr>
        <p:spPr>
          <a:xfrm>
            <a:off x="731475" y="1464100"/>
            <a:ext cx="201600" cy="20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58"/>
          <p:cNvSpPr txBox="1"/>
          <p:nvPr/>
        </p:nvSpPr>
        <p:spPr>
          <a:xfrm>
            <a:off x="995375" y="3861213"/>
            <a:ext cx="205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Deficit of SGD 951M by 2035; sustain budget growth at 5.75% p.a.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3" name="Google Shape;623;p58"/>
          <p:cNvSpPr txBox="1"/>
          <p:nvPr/>
        </p:nvSpPr>
        <p:spPr>
          <a:xfrm>
            <a:off x="995375" y="3292113"/>
            <a:ext cx="2436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rPr>
              <a:t>Fiscal Sustainability</a:t>
            </a:r>
            <a:endParaRPr sz="1600" dirty="0">
              <a:solidFill>
                <a:schemeClr val="dk2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624" name="Google Shape;624;p58"/>
          <p:cNvSpPr/>
          <p:nvPr/>
        </p:nvSpPr>
        <p:spPr>
          <a:xfrm>
            <a:off x="731475" y="3640481"/>
            <a:ext cx="201600" cy="20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58"/>
          <p:cNvSpPr txBox="1"/>
          <p:nvPr/>
        </p:nvSpPr>
        <p:spPr>
          <a:xfrm>
            <a:off x="5494351" y="1693073"/>
            <a:ext cx="235629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60% subsidy rate balances household burden and govt fiscal position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6" name="Google Shape;626;p58"/>
          <p:cNvSpPr txBox="1"/>
          <p:nvPr/>
        </p:nvSpPr>
        <p:spPr>
          <a:xfrm>
            <a:off x="5167098" y="1351784"/>
            <a:ext cx="26949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rPr>
              <a:t>Subsidy Optimisation</a:t>
            </a:r>
            <a:endParaRPr sz="1600" dirty="0">
              <a:solidFill>
                <a:schemeClr val="dk2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627" name="Google Shape;627;p58"/>
          <p:cNvSpPr txBox="1"/>
          <p:nvPr/>
        </p:nvSpPr>
        <p:spPr>
          <a:xfrm>
            <a:off x="5557448" y="3842081"/>
            <a:ext cx="22932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Prioritise Healthier SG, ALOS reduction, and 3.53% bed expansion plan</a:t>
            </a:r>
            <a:endParaRPr sz="12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8" name="Google Shape;628;p58"/>
          <p:cNvSpPr txBox="1"/>
          <p:nvPr/>
        </p:nvSpPr>
        <p:spPr>
          <a:xfrm>
            <a:off x="5796248" y="3272983"/>
            <a:ext cx="2054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2"/>
                </a:solidFill>
                <a:latin typeface="Paytone One"/>
                <a:ea typeface="Paytone One"/>
                <a:cs typeface="Paytone One"/>
                <a:sym typeface="Paytone One"/>
              </a:rPr>
              <a:t>Policy Priority</a:t>
            </a:r>
            <a:endParaRPr sz="1600" dirty="0">
              <a:solidFill>
                <a:schemeClr val="dk2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629" name="Google Shape;629;p58"/>
          <p:cNvSpPr/>
          <p:nvPr/>
        </p:nvSpPr>
        <p:spPr>
          <a:xfrm>
            <a:off x="7935623" y="1464100"/>
            <a:ext cx="201600" cy="20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58"/>
          <p:cNvSpPr/>
          <p:nvPr/>
        </p:nvSpPr>
        <p:spPr>
          <a:xfrm>
            <a:off x="7935623" y="3661563"/>
            <a:ext cx="201600" cy="20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1" name="Google Shape;63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03538">
            <a:off x="3503157" y="1836183"/>
            <a:ext cx="2137684" cy="1856908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30000"/>
              </a:scheme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9"/>
          <p:cNvSpPr txBox="1">
            <a:spLocks noGrp="1"/>
          </p:cNvSpPr>
          <p:nvPr>
            <p:ph type="title"/>
          </p:nvPr>
        </p:nvSpPr>
        <p:spPr>
          <a:xfrm>
            <a:off x="720000" y="1999050"/>
            <a:ext cx="7704000" cy="8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/>
              <a:t>Thank you!</a:t>
            </a:r>
            <a:endParaRPr sz="4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ld Age Minitheme by Slidesgo">
  <a:themeElements>
    <a:clrScheme name="Simple Light">
      <a:dk1>
        <a:srgbClr val="301903"/>
      </a:dk1>
      <a:lt1>
        <a:srgbClr val="FFFAF6"/>
      </a:lt1>
      <a:dk2>
        <a:srgbClr val="8D4809"/>
      </a:dk2>
      <a:lt2>
        <a:srgbClr val="F6C2CD"/>
      </a:lt2>
      <a:accent1>
        <a:srgbClr val="FAC79A"/>
      </a:accent1>
      <a:accent2>
        <a:srgbClr val="CFC686"/>
      </a:accent2>
      <a:accent3>
        <a:srgbClr val="F6A15A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857</Words>
  <Application>Microsoft Macintosh PowerPoint</Application>
  <PresentationFormat>On-screen Show (16:9)</PresentationFormat>
  <Paragraphs>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Paytone One</vt:lpstr>
      <vt:lpstr>Bebas Neue</vt:lpstr>
      <vt:lpstr>Public Sans</vt:lpstr>
      <vt:lpstr>Darker Grotesque SemiBold</vt:lpstr>
      <vt:lpstr>Public Sans SemiBold</vt:lpstr>
      <vt:lpstr>Arial</vt:lpstr>
      <vt:lpstr>Public Sans Medium</vt:lpstr>
      <vt:lpstr>Simple Light</vt:lpstr>
      <vt:lpstr>Old Age Minitheme by Slidesgo</vt:lpstr>
      <vt:lpstr>Singapore  Public Healthcare Sustainability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Trade Off Analysis  </vt:lpstr>
      <vt:lpstr>Sensitivity Analysis</vt:lpstr>
      <vt:lpstr>Influence Diagram </vt:lpstr>
      <vt:lpstr>Black Box Model</vt:lpstr>
      <vt:lpstr>Key Findings &amp; Recommendations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Akshaya VIJAYAKUMAR SIVAKAMI</cp:lastModifiedBy>
  <cp:revision>2</cp:revision>
  <dcterms:modified xsi:type="dcterms:W3CDTF">2026-05-10T10:09:37Z</dcterms:modified>
</cp:coreProperties>
</file>